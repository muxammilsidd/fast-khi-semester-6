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1" r:id="rId3"/>
    <p:sldId id="273" r:id="rId4"/>
    <p:sldId id="287" r:id="rId5"/>
    <p:sldId id="288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  <p:sldId id="282" r:id="rId16"/>
    <p:sldId id="284" r:id="rId17"/>
    <p:sldId id="285" r:id="rId18"/>
    <p:sldId id="293" r:id="rId19"/>
    <p:sldId id="294" r:id="rId20"/>
    <p:sldId id="295" r:id="rId21"/>
    <p:sldId id="296" r:id="rId22"/>
    <p:sldId id="297" r:id="rId23"/>
    <p:sldId id="298" r:id="rId24"/>
    <p:sldId id="303" r:id="rId25"/>
    <p:sldId id="304" r:id="rId26"/>
    <p:sldId id="305" r:id="rId27"/>
    <p:sldId id="306" r:id="rId28"/>
    <p:sldId id="299" r:id="rId29"/>
    <p:sldId id="300" r:id="rId30"/>
    <p:sldId id="301" r:id="rId31"/>
    <p:sldId id="302" r:id="rId32"/>
    <p:sldId id="307" r:id="rId33"/>
    <p:sldId id="308" r:id="rId34"/>
    <p:sldId id="309" r:id="rId35"/>
    <p:sldId id="289" r:id="rId36"/>
    <p:sldId id="290" r:id="rId37"/>
    <p:sldId id="291" r:id="rId38"/>
    <p:sldId id="292" r:id="rId39"/>
    <p:sldId id="27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E53E1-CEB2-494C-8775-D8A99ED827E9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4238-B7B9-460B-BE74-ADFB88CFF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6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2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6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EA38-8D09-4040-A9B0-3F77DCDCC83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ulfiqar.rafique@nu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Compiler Construction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Teacher : Zulfiqar Ali</a:t>
            </a:r>
          </a:p>
          <a:p>
            <a:r>
              <a:rPr lang="en-GB" dirty="0" smtClean="0"/>
              <a:t>Email: </a:t>
            </a:r>
            <a:r>
              <a:rPr lang="en-GB" dirty="0" smtClean="0">
                <a:hlinkClick r:id="rId2"/>
              </a:rPr>
              <a:t>Zulfiqar.rafique@nu.edu.pk</a:t>
            </a:r>
            <a:endParaRPr lang="en-GB" dirty="0" smtClean="0"/>
          </a:p>
          <a:p>
            <a:r>
              <a:rPr lang="en-GB" dirty="0"/>
              <a:t>Office: No.6,Basement -1 (CS Block 1)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Week 2: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Role of Lexical Analyser</a:t>
            </a:r>
          </a:p>
          <a:p>
            <a:r>
              <a:rPr lang="en-US" dirty="0"/>
              <a:t>Input Buffering</a:t>
            </a:r>
            <a:endParaRPr lang="en-GB" dirty="0"/>
          </a:p>
          <a:p>
            <a:r>
              <a:rPr lang="en-US" dirty="0"/>
              <a:t>Specification and recognition of tokens</a:t>
            </a:r>
            <a:endParaRPr lang="en-GB" dirty="0"/>
          </a:p>
          <a:p>
            <a:r>
              <a:rPr lang="en-US" dirty="0"/>
              <a:t>Regular </a:t>
            </a:r>
            <a:r>
              <a:rPr lang="en-US" dirty="0" smtClean="0"/>
              <a:t>Expressions</a:t>
            </a:r>
          </a:p>
          <a:p>
            <a:r>
              <a:rPr lang="en-US" dirty="0" smtClean="0"/>
              <a:t>Finite Automata (DFA &amp; NFA)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26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Role of Lexical Analyser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Read the Input characters</a:t>
            </a:r>
          </a:p>
          <a:p>
            <a:r>
              <a:rPr lang="en-GB" dirty="0" smtClean="0"/>
              <a:t>Group them in Lexemes</a:t>
            </a:r>
          </a:p>
          <a:p>
            <a:r>
              <a:rPr lang="en-GB" dirty="0" smtClean="0"/>
              <a:t>Produce sequence of Tokens as Output</a:t>
            </a:r>
          </a:p>
          <a:p>
            <a:r>
              <a:rPr lang="en-GB" dirty="0"/>
              <a:t>The stream of tokens is sent to the parser for syntax analysis. </a:t>
            </a:r>
            <a:endParaRPr lang="en-GB" dirty="0" smtClean="0"/>
          </a:p>
          <a:p>
            <a:r>
              <a:rPr lang="en-GB" dirty="0" smtClean="0"/>
              <a:t>Interact with the symbol table</a:t>
            </a:r>
          </a:p>
          <a:p>
            <a:r>
              <a:rPr lang="en-GB" dirty="0" smtClean="0"/>
              <a:t>When any identifier constitute put its information in symbol table</a:t>
            </a:r>
          </a:p>
          <a:p>
            <a:r>
              <a:rPr lang="en-GB" dirty="0" smtClean="0"/>
              <a:t>Stripping </a:t>
            </a:r>
            <a:r>
              <a:rPr lang="en-GB" dirty="0"/>
              <a:t>out comments and whitespace (blank, newline, tab, </a:t>
            </a:r>
            <a:r>
              <a:rPr lang="en-GB" dirty="0" smtClean="0"/>
              <a:t>and may be some other characters) </a:t>
            </a:r>
          </a:p>
          <a:p>
            <a:r>
              <a:rPr lang="en-GB" dirty="0" smtClean="0"/>
              <a:t>Generate Errors which relates to Lexical Analysis.</a:t>
            </a:r>
          </a:p>
          <a:p>
            <a:r>
              <a:rPr lang="en-GB" dirty="0"/>
              <a:t>Lexical </a:t>
            </a:r>
            <a:r>
              <a:rPr lang="en-GB" dirty="0" err="1"/>
              <a:t>Analyzer</a:t>
            </a:r>
            <a:r>
              <a:rPr lang="en-GB" dirty="0"/>
              <a:t> may keep track record of line </a:t>
            </a:r>
            <a:r>
              <a:rPr lang="en-GB" dirty="0" smtClean="0"/>
              <a:t>numbers to associate any error </a:t>
            </a:r>
            <a:r>
              <a:rPr lang="en-GB" dirty="0"/>
              <a:t/>
            </a:r>
            <a:br>
              <a:rPr lang="en-GB" dirty="0"/>
            </a:b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3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Input Buffering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Challenge in Lexeme Recognition</a:t>
            </a:r>
            <a:r>
              <a:rPr lang="en-GB" b="1" dirty="0" smtClean="0"/>
              <a:t>:</a:t>
            </a:r>
            <a:endParaRPr lang="en-GB" dirty="0"/>
          </a:p>
          <a:p>
            <a:pPr lvl="1"/>
            <a:r>
              <a:rPr lang="en-GB" dirty="0"/>
              <a:t>Reading source code efficiently is tricky because lexemes often require </a:t>
            </a:r>
            <a:r>
              <a:rPr lang="en-GB" dirty="0" err="1"/>
              <a:t>lookahead</a:t>
            </a:r>
            <a:r>
              <a:rPr lang="en-GB" dirty="0"/>
              <a:t> (checking extra characters) to confirm boundaries</a:t>
            </a:r>
            <a:r>
              <a:rPr lang="en-GB" dirty="0" smtClean="0"/>
              <a:t>.</a:t>
            </a:r>
            <a:endParaRPr lang="en-GB" dirty="0"/>
          </a:p>
          <a:p>
            <a:pPr lvl="1"/>
            <a:r>
              <a:rPr lang="en-GB" dirty="0"/>
              <a:t>Why </a:t>
            </a:r>
            <a:r>
              <a:rPr lang="en-GB" dirty="0" err="1"/>
              <a:t>Lookahead</a:t>
            </a:r>
            <a:r>
              <a:rPr lang="en-GB" dirty="0"/>
              <a:t> is Needed</a:t>
            </a:r>
            <a:r>
              <a:rPr lang="en-GB" dirty="0" smtClean="0"/>
              <a:t>:</a:t>
            </a:r>
            <a:endParaRPr lang="en-GB" dirty="0"/>
          </a:p>
          <a:p>
            <a:pPr lvl="1"/>
            <a:r>
              <a:rPr lang="en-GB" dirty="0"/>
              <a:t>Identifiers: End only when a non-alphanumeric character (e.g., space, operator) is encountered</a:t>
            </a:r>
            <a:r>
              <a:rPr lang="en-GB" dirty="0" smtClean="0"/>
              <a:t>.</a:t>
            </a:r>
            <a:endParaRPr lang="en-GB" dirty="0"/>
          </a:p>
          <a:p>
            <a:pPr lvl="1"/>
            <a:r>
              <a:rPr lang="en-GB" dirty="0"/>
              <a:t>Multi-character Operators: Single chars like -, =, or &lt; could be part of longer ops (e.g., -&gt;, ==, </a:t>
            </a:r>
            <a:r>
              <a:rPr lang="en-GB" dirty="0" smtClean="0"/>
              <a:t>&lt;=).</a:t>
            </a:r>
          </a:p>
          <a:p>
            <a:pPr lvl="1"/>
            <a:r>
              <a:rPr lang="en-GB" dirty="0" smtClean="0"/>
              <a:t>Examples: x, iffy, &amp;, &amp;&amp;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09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Solution: Two-Buffer Scheme</a:t>
            </a:r>
            <a:r>
              <a:rPr lang="en-GB" dirty="0" smtClean="0"/>
              <a:t>: (Buffer Pair)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Handles large </a:t>
            </a:r>
            <a:r>
              <a:rPr lang="en-GB" dirty="0" err="1"/>
              <a:t>lookaheads</a:t>
            </a:r>
            <a:r>
              <a:rPr lang="en-GB" dirty="0"/>
              <a:t> safely by dividing input into </a:t>
            </a:r>
            <a:r>
              <a:rPr lang="en-GB" b="1" dirty="0"/>
              <a:t>two buffers</a:t>
            </a:r>
            <a:r>
              <a:rPr lang="en-GB" dirty="0"/>
              <a:t>, allowing seamless scanning</a:t>
            </a:r>
            <a:r>
              <a:rPr lang="en-GB" dirty="0" smtClean="0"/>
              <a:t>.</a:t>
            </a:r>
          </a:p>
          <a:p>
            <a:r>
              <a:rPr lang="en-GB" dirty="0"/>
              <a:t>Two buffers (size = disk block, e.g., 4096 bytes) alternate to minimize system </a:t>
            </a:r>
            <a:r>
              <a:rPr lang="en-GB" dirty="0" smtClean="0"/>
              <a:t>call.</a:t>
            </a:r>
          </a:p>
          <a:p>
            <a:r>
              <a:rPr lang="en-GB" dirty="0" smtClean="0"/>
              <a:t>Special </a:t>
            </a:r>
            <a:r>
              <a:rPr lang="en-GB" dirty="0" err="1"/>
              <a:t>eof</a:t>
            </a:r>
            <a:r>
              <a:rPr lang="en-GB" dirty="0"/>
              <a:t> marker indicates end of file</a:t>
            </a:r>
            <a:r>
              <a:rPr lang="en-GB" dirty="0" smtClean="0"/>
              <a:t>.</a:t>
            </a:r>
          </a:p>
          <a:p>
            <a:r>
              <a:rPr lang="en-GB" b="1" dirty="0" err="1"/>
              <a:t>lexemeBegin</a:t>
            </a:r>
            <a:r>
              <a:rPr lang="en-GB" b="1" dirty="0"/>
              <a:t>: </a:t>
            </a:r>
            <a:r>
              <a:rPr lang="en-GB" dirty="0"/>
              <a:t>Points to the start of the current lexeme</a:t>
            </a:r>
            <a:r>
              <a:rPr lang="en-GB" dirty="0" smtClean="0"/>
              <a:t>.</a:t>
            </a:r>
            <a:endParaRPr lang="en-GB" dirty="0"/>
          </a:p>
          <a:p>
            <a:r>
              <a:rPr lang="en-GB" b="1" dirty="0"/>
              <a:t>forward: </a:t>
            </a:r>
            <a:r>
              <a:rPr lang="en-GB" dirty="0"/>
              <a:t>Scans ahead to identify lexeme boundaries.</a:t>
            </a:r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990307"/>
            <a:ext cx="5994089" cy="160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8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Interaction with Symbol Table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505" y="2204794"/>
            <a:ext cx="8845310" cy="359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Tokens, Patterns, and Lexemes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822880"/>
              </p:ext>
            </p:extLst>
          </p:nvPr>
        </p:nvGraphicFramePr>
        <p:xfrm>
          <a:off x="838200" y="2393922"/>
          <a:ext cx="10515600" cy="1859280"/>
        </p:xfrm>
        <a:graphic>
          <a:graphicData uri="http://schemas.openxmlformats.org/drawingml/2006/table">
            <a:tbl>
              <a:tblPr/>
              <a:tblGrid>
                <a:gridCol w="3463718">
                  <a:extLst>
                    <a:ext uri="{9D8B030D-6E8A-4147-A177-3AD203B41FA5}">
                      <a16:colId xmlns:a16="http://schemas.microsoft.com/office/drawing/2014/main" val="1346424419"/>
                    </a:ext>
                  </a:extLst>
                </a:gridCol>
                <a:gridCol w="3525941">
                  <a:extLst>
                    <a:ext uri="{9D8B030D-6E8A-4147-A177-3AD203B41FA5}">
                      <a16:colId xmlns:a16="http://schemas.microsoft.com/office/drawing/2014/main" val="2606278338"/>
                    </a:ext>
                  </a:extLst>
                </a:gridCol>
                <a:gridCol w="3525941">
                  <a:extLst>
                    <a:ext uri="{9D8B030D-6E8A-4147-A177-3AD203B41FA5}">
                      <a16:colId xmlns:a16="http://schemas.microsoft.com/office/drawing/2014/main" val="2897504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rgbClr val="404040"/>
                          </a:solidFill>
                          <a:effectLst/>
                        </a:rPr>
                        <a:t>Term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solidFill>
                            <a:srgbClr val="404040"/>
                          </a:solidFill>
                          <a:effectLst/>
                        </a:rPr>
                        <a:t>Definition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solidFill>
                            <a:srgbClr val="404040"/>
                          </a:solidFill>
                          <a:effectLst/>
                        </a:rPr>
                        <a:t>Example (int x = 10;)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33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Lexeme</a:t>
                      </a:r>
                      <a:endParaRPr lang="en-GB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Actual substring in code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"int", "x", "10"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01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Pattern</a:t>
                      </a:r>
                      <a:endParaRPr lang="en-GB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Rule defining valid lexemes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[a-z]+ (for identifiers)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6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Token</a:t>
                      </a:r>
                      <a:endParaRPr lang="en-GB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Categorized lexeme ((TYPE, "</a:t>
                      </a:r>
                      <a:r>
                        <a:rPr lang="en-GB" dirty="0" err="1">
                          <a:effectLst/>
                        </a:rPr>
                        <a:t>int</a:t>
                      </a:r>
                      <a:r>
                        <a:rPr lang="en-GB" dirty="0">
                          <a:effectLst/>
                        </a:rPr>
                        <a:t>"))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(INT, 10), (ID, "x")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732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42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Kinds of Tokens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Most Languages have the tokens in these categories</a:t>
            </a:r>
          </a:p>
          <a:p>
            <a:pPr lvl="1"/>
            <a:r>
              <a:rPr lang="en-GB" dirty="0" smtClean="0"/>
              <a:t>Keywords – 		If, Else, Do, While </a:t>
            </a:r>
          </a:p>
          <a:p>
            <a:pPr lvl="1"/>
            <a:r>
              <a:rPr lang="en-GB" dirty="0" smtClean="0"/>
              <a:t>Identifiers  - 		</a:t>
            </a:r>
            <a:r>
              <a:rPr lang="en-GB" dirty="0" err="1" smtClean="0"/>
              <a:t>num</a:t>
            </a:r>
            <a:r>
              <a:rPr lang="en-GB" dirty="0" smtClean="0"/>
              <a:t>, </a:t>
            </a:r>
            <a:r>
              <a:rPr lang="en-GB" dirty="0" err="1" smtClean="0"/>
              <a:t>var</a:t>
            </a:r>
            <a:r>
              <a:rPr lang="en-GB" dirty="0" smtClean="0"/>
              <a:t>, </a:t>
            </a:r>
            <a:r>
              <a:rPr lang="en-GB" dirty="0" err="1" smtClean="0"/>
              <a:t>addfunction</a:t>
            </a:r>
            <a:r>
              <a:rPr lang="en-GB" dirty="0" smtClean="0"/>
              <a:t> </a:t>
            </a:r>
          </a:p>
          <a:p>
            <a:pPr lvl="1"/>
            <a:r>
              <a:rPr lang="en-GB" dirty="0" smtClean="0"/>
              <a:t>Operators  		(+, -, *, /, &lt;, &gt;, &lt;=)</a:t>
            </a:r>
          </a:p>
          <a:p>
            <a:pPr lvl="1"/>
            <a:r>
              <a:rPr lang="en-GB" dirty="0" smtClean="0"/>
              <a:t>Numbers/Constants	362, 457</a:t>
            </a:r>
          </a:p>
          <a:p>
            <a:pPr lvl="1"/>
            <a:r>
              <a:rPr lang="en-GB" dirty="0" smtClean="0"/>
              <a:t>Strings/Literals		“This is literal”</a:t>
            </a:r>
          </a:p>
          <a:p>
            <a:pPr lvl="1"/>
            <a:r>
              <a:rPr lang="en-GB" dirty="0" smtClean="0"/>
              <a:t>Punctuators		, “ “ ()[] ; </a:t>
            </a:r>
          </a:p>
          <a:p>
            <a:pPr lvl="1"/>
            <a:r>
              <a:rPr lang="en-GB" dirty="0" smtClean="0"/>
              <a:t>Special Characters	&amp; % ^ @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38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of Tokenization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Keywords:</a:t>
            </a:r>
          </a:p>
          <a:p>
            <a:r>
              <a:rPr lang="en-GB" dirty="0" smtClean="0"/>
              <a:t>Identifiers:</a:t>
            </a:r>
          </a:p>
          <a:p>
            <a:r>
              <a:rPr lang="en-GB" dirty="0" smtClean="0"/>
              <a:t>Operators:</a:t>
            </a:r>
          </a:p>
          <a:p>
            <a:r>
              <a:rPr lang="en-GB" dirty="0" smtClean="0"/>
              <a:t>Strings/Literals:</a:t>
            </a:r>
          </a:p>
          <a:p>
            <a:r>
              <a:rPr lang="en-GB" dirty="0" smtClean="0"/>
              <a:t>Punctuators:</a:t>
            </a:r>
          </a:p>
          <a:p>
            <a:r>
              <a:rPr lang="en-GB" dirty="0" smtClean="0"/>
              <a:t>Constants:</a:t>
            </a:r>
            <a:endParaRPr lang="en-GB" dirty="0"/>
          </a:p>
          <a:p>
            <a:r>
              <a:rPr lang="en-GB" dirty="0" smtClean="0"/>
              <a:t>Special Characters: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6024" t="8022" r="5668" b="43784"/>
          <a:stretch/>
        </p:blipFill>
        <p:spPr>
          <a:xfrm>
            <a:off x="7061498" y="1690688"/>
            <a:ext cx="4292302" cy="250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5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Exercises (Find the number of tokens)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Printf</a:t>
            </a:r>
            <a:r>
              <a:rPr lang="en-GB" dirty="0" smtClean="0"/>
              <a:t>(“</a:t>
            </a:r>
            <a:r>
              <a:rPr lang="en-GB" dirty="0" err="1" smtClean="0"/>
              <a:t>i</a:t>
            </a:r>
            <a:r>
              <a:rPr lang="en-GB" dirty="0" smtClean="0"/>
              <a:t>=%d, &amp;</a:t>
            </a:r>
            <a:r>
              <a:rPr lang="en-GB" dirty="0" err="1" smtClean="0"/>
              <a:t>i</a:t>
            </a:r>
            <a:r>
              <a:rPr lang="en-GB" dirty="0" smtClean="0"/>
              <a:t>=%x” , I, &amp;</a:t>
            </a:r>
            <a:r>
              <a:rPr lang="en-GB" dirty="0" err="1" smtClean="0"/>
              <a:t>i</a:t>
            </a:r>
            <a:r>
              <a:rPr lang="en-GB" dirty="0" smtClean="0"/>
              <a:t>);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374" y="1546224"/>
            <a:ext cx="4098925" cy="25724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87" y="2616538"/>
            <a:ext cx="5032623" cy="255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2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Symbol Table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Symbol tables are data structures that are used by compilers to hold </a:t>
            </a:r>
            <a:r>
              <a:rPr lang="en-GB" dirty="0" smtClean="0"/>
              <a:t>information about </a:t>
            </a:r>
            <a:r>
              <a:rPr lang="en-GB" dirty="0"/>
              <a:t>source-program constructs </a:t>
            </a:r>
          </a:p>
          <a:p>
            <a:r>
              <a:rPr lang="en-GB" dirty="0" smtClean="0"/>
              <a:t>It allow </a:t>
            </a:r>
            <a:r>
              <a:rPr lang="en-GB" dirty="0"/>
              <a:t>the compiler to </a:t>
            </a:r>
            <a:r>
              <a:rPr lang="en-GB" dirty="0" smtClean="0"/>
              <a:t>find </a:t>
            </a:r>
            <a:r>
              <a:rPr lang="en-GB" dirty="0"/>
              <a:t>the record for each name quickly and </a:t>
            </a:r>
            <a:r>
              <a:rPr lang="en-GB" dirty="0" smtClean="0"/>
              <a:t>to store </a:t>
            </a:r>
            <a:r>
              <a:rPr lang="en-GB" dirty="0"/>
              <a:t>or retrieve data from that record </a:t>
            </a:r>
            <a:r>
              <a:rPr lang="en-GB" dirty="0" smtClean="0"/>
              <a:t>quickly.</a:t>
            </a:r>
          </a:p>
          <a:p>
            <a:r>
              <a:rPr lang="en-GB" dirty="0"/>
              <a:t>The information is collected incrementally </a:t>
            </a:r>
            <a:r>
              <a:rPr lang="en-GB" dirty="0" smtClean="0"/>
              <a:t>by the </a:t>
            </a:r>
            <a:r>
              <a:rPr lang="en-GB" dirty="0"/>
              <a:t>analysis phases of a compiler and used by the synthesis phases to </a:t>
            </a:r>
            <a:r>
              <a:rPr lang="en-GB" dirty="0" smtClean="0"/>
              <a:t>generate the </a:t>
            </a:r>
            <a:r>
              <a:rPr lang="en-GB" dirty="0"/>
              <a:t>target code. 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21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Symbol Table Usage by Phases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316727"/>
              </p:ext>
            </p:extLst>
          </p:nvPr>
        </p:nvGraphicFramePr>
        <p:xfrm>
          <a:off x="685800" y="1690688"/>
          <a:ext cx="10515600" cy="439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324853020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1643614449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537051204"/>
                    </a:ext>
                  </a:extLst>
                </a:gridCol>
              </a:tblGrid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GB" b="1" dirty="0" smtClean="0"/>
                        <a:t>Symbol Table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Lexical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Create entries for identifiers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717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Syntax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Adds information regarding</a:t>
                      </a:r>
                      <a:r>
                        <a:rPr lang="en-GB" baseline="0" dirty="0" smtClean="0"/>
                        <a:t> attributes(type, Scope, dimension </a:t>
                      </a:r>
                      <a:r>
                        <a:rPr lang="en-GB" baseline="0" dirty="0" err="1" smtClean="0"/>
                        <a:t>etc</a:t>
                      </a:r>
                      <a:r>
                        <a:rPr lang="en-GB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412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Semantic</a:t>
                      </a:r>
                      <a:r>
                        <a:rPr lang="en-GB" baseline="0" dirty="0" smtClean="0"/>
                        <a:t>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smtClean="0">
                          <a:effectLst/>
                        </a:rPr>
                        <a:t>Perform type checking, ensuring that expressions and assignments are semantically correct.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0398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Intermediate Code Generation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Available</a:t>
                      </a:r>
                      <a:r>
                        <a:rPr lang="en-GB" baseline="0" dirty="0" smtClean="0"/>
                        <a:t> info helps in adding temporary variable information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6021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Code Optimization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smtClean="0">
                          <a:effectLst/>
                        </a:rPr>
                        <a:t>Available</a:t>
                      </a:r>
                      <a:r>
                        <a:rPr lang="en-GB" sz="1800" kern="1200" baseline="0" dirty="0" smtClean="0">
                          <a:effectLst/>
                        </a:rPr>
                        <a:t> info helps in </a:t>
                      </a:r>
                      <a:r>
                        <a:rPr lang="en-GB" sz="1800" kern="1200" dirty="0" smtClean="0">
                          <a:effectLst/>
                        </a:rPr>
                        <a:t>perform various optimizations, such as identifying redundant computations or optimizing memory access patterns.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22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Target Machine</a:t>
                      </a:r>
                      <a:r>
                        <a:rPr lang="en-GB" baseline="0" dirty="0" smtClean="0"/>
                        <a:t> Code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smtClean="0">
                          <a:effectLst/>
                        </a:rPr>
                        <a:t>The symbol table provides the memory addresses or register assignments for identifiers, which are crucial for generating the final machine code.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25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29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85" y="779462"/>
            <a:ext cx="8818429" cy="53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1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Errors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Errors</a:t>
            </a:r>
          </a:p>
          <a:p>
            <a:pPr lvl="1"/>
            <a:r>
              <a:rPr lang="en-GB" dirty="0" smtClean="0"/>
              <a:t>Compiler Time Errors</a:t>
            </a:r>
          </a:p>
          <a:p>
            <a:pPr lvl="2"/>
            <a:r>
              <a:rPr lang="en-GB" dirty="0" smtClean="0"/>
              <a:t>Lexical Errors</a:t>
            </a:r>
          </a:p>
          <a:p>
            <a:pPr lvl="2"/>
            <a:r>
              <a:rPr lang="en-GB" dirty="0" smtClean="0"/>
              <a:t>Syntax Errors</a:t>
            </a:r>
          </a:p>
          <a:p>
            <a:pPr lvl="2"/>
            <a:r>
              <a:rPr lang="en-GB" dirty="0" smtClean="0"/>
              <a:t>Semantic Errors</a:t>
            </a:r>
          </a:p>
          <a:p>
            <a:pPr lvl="1"/>
            <a:r>
              <a:rPr lang="en-GB" dirty="0" smtClean="0"/>
              <a:t>Run Time Errors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541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Lexical Errors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hard for a lexical </a:t>
            </a:r>
            <a:r>
              <a:rPr lang="en-GB" dirty="0" err="1"/>
              <a:t>analyzer</a:t>
            </a:r>
            <a:r>
              <a:rPr lang="en-GB" dirty="0"/>
              <a:t> to tell, without the aid of other components</a:t>
            </a:r>
            <a:r>
              <a:rPr lang="en-GB" dirty="0" smtClean="0"/>
              <a:t>,</a:t>
            </a:r>
          </a:p>
          <a:p>
            <a:r>
              <a:rPr lang="en-GB" b="1" dirty="0"/>
              <a:t>fi</a:t>
            </a:r>
            <a:r>
              <a:rPr lang="en-GB" dirty="0"/>
              <a:t> ( a == f(x)) </a:t>
            </a:r>
            <a:endParaRPr lang="en-GB" dirty="0" smtClean="0"/>
          </a:p>
          <a:p>
            <a:pPr lvl="1"/>
            <a:r>
              <a:rPr lang="en-GB" dirty="0" smtClean="0"/>
              <a:t>A </a:t>
            </a:r>
            <a:r>
              <a:rPr lang="en-GB" dirty="0"/>
              <a:t>lexical </a:t>
            </a:r>
            <a:r>
              <a:rPr lang="en-GB" dirty="0" err="1"/>
              <a:t>analyzer</a:t>
            </a:r>
            <a:r>
              <a:rPr lang="en-GB" dirty="0"/>
              <a:t> cannot tell whether </a:t>
            </a:r>
            <a:r>
              <a:rPr lang="en-GB" b="1" dirty="0"/>
              <a:t>fi</a:t>
            </a:r>
            <a:r>
              <a:rPr lang="en-GB" dirty="0"/>
              <a:t> is a misspelling of the keyword </a:t>
            </a:r>
            <a:r>
              <a:rPr lang="en-GB" b="1" dirty="0"/>
              <a:t>if</a:t>
            </a:r>
            <a:r>
              <a:rPr lang="en-GB" dirty="0"/>
              <a:t> </a:t>
            </a:r>
            <a:r>
              <a:rPr lang="en-GB" dirty="0" smtClean="0"/>
              <a:t>or an </a:t>
            </a:r>
            <a:r>
              <a:rPr lang="en-GB" dirty="0"/>
              <a:t>undeclared function </a:t>
            </a:r>
            <a:r>
              <a:rPr lang="en-GB" dirty="0" smtClean="0"/>
              <a:t>identifier.</a:t>
            </a:r>
          </a:p>
          <a:p>
            <a:pPr lvl="1"/>
            <a:r>
              <a:rPr lang="en-GB" dirty="0"/>
              <a:t>Since </a:t>
            </a:r>
            <a:r>
              <a:rPr lang="en-GB" b="1" dirty="0"/>
              <a:t>fi </a:t>
            </a:r>
            <a:r>
              <a:rPr lang="en-GB" dirty="0"/>
              <a:t>is a valid lexeme for the </a:t>
            </a:r>
            <a:r>
              <a:rPr lang="en-GB" dirty="0" smtClean="0"/>
              <a:t>identifier token type.</a:t>
            </a:r>
          </a:p>
          <a:p>
            <a:pPr lvl="1"/>
            <a:r>
              <a:rPr lang="en-GB" dirty="0" smtClean="0"/>
              <a:t>This error may be handled by Parser.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8611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Identifiers that are too long   (</a:t>
            </a:r>
            <a:r>
              <a:rPr lang="en-GB" dirty="0" err="1" smtClean="0"/>
              <a:t>anidentifierrrrrrrr</a:t>
            </a:r>
            <a:r>
              <a:rPr lang="en-GB" dirty="0" smtClean="0"/>
              <a:t>……..)</a:t>
            </a:r>
          </a:p>
          <a:p>
            <a:r>
              <a:rPr lang="en-GB" dirty="0" smtClean="0"/>
              <a:t>Exceeding length of Numeric Constants   (</a:t>
            </a:r>
            <a:r>
              <a:rPr lang="en-GB" dirty="0" err="1" smtClean="0"/>
              <a:t>int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= 454654564654;)</a:t>
            </a:r>
          </a:p>
          <a:p>
            <a:r>
              <a:rPr lang="en-GB" dirty="0" smtClean="0"/>
              <a:t>Ill-formed numeric constants  (45$36)</a:t>
            </a:r>
          </a:p>
          <a:p>
            <a:r>
              <a:rPr lang="en-GB" dirty="0" smtClean="0"/>
              <a:t>Illegal characters which are not available in language (char x[]=“FAST NUCES”;$)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8740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Lexical Errors Recovery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 smtClean="0"/>
              <a:t>Panic Mode Recovery</a:t>
            </a:r>
            <a:endParaRPr lang="en-GB" b="1" dirty="0"/>
          </a:p>
          <a:p>
            <a:pPr lvl="1"/>
            <a:r>
              <a:rPr lang="en-GB" dirty="0" err="1" smtClean="0"/>
              <a:t>int</a:t>
            </a:r>
            <a:r>
              <a:rPr lang="en-GB" dirty="0" smtClean="0"/>
              <a:t> </a:t>
            </a:r>
            <a:r>
              <a:rPr lang="en-GB" strike="sngStrike" dirty="0" smtClean="0"/>
              <a:t>4FAST</a:t>
            </a:r>
            <a:r>
              <a:rPr lang="en-GB" dirty="0" smtClean="0"/>
              <a:t>; characters will be skipped until semicolon (Punctuator)</a:t>
            </a:r>
          </a:p>
          <a:p>
            <a:pPr lvl="1"/>
            <a:r>
              <a:rPr lang="en-GB" dirty="0" smtClean="0"/>
              <a:t>For(</a:t>
            </a:r>
            <a:r>
              <a:rPr lang="en-GB" dirty="0" err="1" smtClean="0"/>
              <a:t>i</a:t>
            </a:r>
            <a:r>
              <a:rPr lang="en-GB" dirty="0" smtClean="0"/>
              <a:t>=0; </a:t>
            </a:r>
            <a:r>
              <a:rPr lang="en-GB" dirty="0" err="1" smtClean="0"/>
              <a:t>i</a:t>
            </a:r>
            <a:r>
              <a:rPr lang="en-GB" dirty="0" smtClean="0"/>
              <a:t>&lt;=10;i++){ in any line if Lexical Error found then from that line all code will be skipped until any delimiter found, Like </a:t>
            </a:r>
            <a:r>
              <a:rPr lang="en-GB" b="1" dirty="0" smtClean="0"/>
              <a:t>}</a:t>
            </a:r>
          </a:p>
          <a:p>
            <a:r>
              <a:rPr lang="en-GB" b="1" dirty="0" smtClean="0"/>
              <a:t>Transpose of Two Adjacent Characters</a:t>
            </a:r>
          </a:p>
          <a:p>
            <a:pPr lvl="1"/>
            <a:r>
              <a:rPr lang="en-GB" dirty="0"/>
              <a:t> </a:t>
            </a:r>
            <a:r>
              <a:rPr lang="en-GB" dirty="0" err="1" smtClean="0"/>
              <a:t>itn</a:t>
            </a:r>
            <a:r>
              <a:rPr lang="en-GB" dirty="0" smtClean="0"/>
              <a:t>  -- &gt; </a:t>
            </a:r>
            <a:r>
              <a:rPr lang="en-GB" dirty="0" err="1" smtClean="0"/>
              <a:t>int</a:t>
            </a:r>
            <a:r>
              <a:rPr lang="en-GB" dirty="0" smtClean="0"/>
              <a:t>, </a:t>
            </a:r>
            <a:r>
              <a:rPr lang="en-GB" dirty="0" err="1" smtClean="0"/>
              <a:t>unoin</a:t>
            </a:r>
            <a:r>
              <a:rPr lang="en-GB" dirty="0" smtClean="0"/>
              <a:t>-</a:t>
            </a:r>
            <a:r>
              <a:rPr lang="en-GB" dirty="0" smtClean="0">
                <a:sym typeface="Wingdings" panose="05000000000000000000" pitchFamily="2" charset="2"/>
              </a:rPr>
              <a:t> union</a:t>
            </a:r>
          </a:p>
          <a:p>
            <a:r>
              <a:rPr lang="en-GB" b="1" dirty="0" smtClean="0">
                <a:sym typeface="Wingdings" panose="05000000000000000000" pitchFamily="2" charset="2"/>
              </a:rPr>
              <a:t>Inserting a missing character</a:t>
            </a:r>
          </a:p>
          <a:p>
            <a:pPr lvl="1"/>
            <a:r>
              <a:rPr lang="en-GB" dirty="0" smtClean="0">
                <a:sym typeface="Wingdings" panose="05000000000000000000" pitchFamily="2" charset="2"/>
              </a:rPr>
              <a:t>it </a:t>
            </a:r>
            <a:r>
              <a:rPr lang="en-GB" dirty="0" err="1" smtClean="0">
                <a:sym typeface="Wingdings" panose="05000000000000000000" pitchFamily="2" charset="2"/>
              </a:rPr>
              <a:t>num</a:t>
            </a:r>
            <a:r>
              <a:rPr lang="en-GB" dirty="0" smtClean="0">
                <a:sym typeface="Wingdings" panose="05000000000000000000" pitchFamily="2" charset="2"/>
              </a:rPr>
              <a:t>;  error handler may add </a:t>
            </a:r>
            <a:r>
              <a:rPr lang="en-GB" b="1" dirty="0" smtClean="0">
                <a:sym typeface="Wingdings" panose="05000000000000000000" pitchFamily="2" charset="2"/>
              </a:rPr>
              <a:t>n</a:t>
            </a:r>
            <a:r>
              <a:rPr lang="en-GB" dirty="0" smtClean="0">
                <a:sym typeface="Wingdings" panose="05000000000000000000" pitchFamily="2" charset="2"/>
              </a:rPr>
              <a:t>, to make it </a:t>
            </a:r>
            <a:r>
              <a:rPr lang="en-GB" b="1" dirty="0" err="1" smtClean="0">
                <a:sym typeface="Wingdings" panose="05000000000000000000" pitchFamily="2" charset="2"/>
              </a:rPr>
              <a:t>int</a:t>
            </a:r>
            <a:endParaRPr lang="en-GB" b="1" dirty="0" smtClean="0">
              <a:sym typeface="Wingdings" panose="05000000000000000000" pitchFamily="2" charset="2"/>
            </a:endParaRPr>
          </a:p>
          <a:p>
            <a:r>
              <a:rPr lang="en-GB" b="1" dirty="0" smtClean="0">
                <a:sym typeface="Wingdings" panose="05000000000000000000" pitchFamily="2" charset="2"/>
              </a:rPr>
              <a:t>Deleting an unknown or extra character</a:t>
            </a:r>
          </a:p>
          <a:p>
            <a:pPr lvl="1"/>
            <a:r>
              <a:rPr lang="en-GB" dirty="0" err="1" smtClean="0">
                <a:sym typeface="Wingdings" panose="05000000000000000000" pitchFamily="2" charset="2"/>
              </a:rPr>
              <a:t>intt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 err="1" smtClean="0">
                <a:sym typeface="Wingdings" panose="05000000000000000000" pitchFamily="2" charset="2"/>
              </a:rPr>
              <a:t>num</a:t>
            </a:r>
            <a:r>
              <a:rPr lang="en-GB" dirty="0" smtClean="0">
                <a:sym typeface="Wingdings" panose="05000000000000000000" pitchFamily="2" charset="2"/>
              </a:rPr>
              <a:t>; error handle may remove extra t, </a:t>
            </a:r>
            <a:r>
              <a:rPr lang="en-GB" dirty="0" err="1" smtClean="0">
                <a:sym typeface="Wingdings" panose="05000000000000000000" pitchFamily="2" charset="2"/>
              </a:rPr>
              <a:t>int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 err="1" smtClean="0">
                <a:sym typeface="Wingdings" panose="05000000000000000000" pitchFamily="2" charset="2"/>
              </a:rPr>
              <a:t>num</a:t>
            </a:r>
            <a:r>
              <a:rPr lang="en-GB" dirty="0" smtClean="0">
                <a:sym typeface="Wingdings" panose="05000000000000000000" pitchFamily="2" charset="2"/>
              </a:rPr>
              <a:t>;</a:t>
            </a:r>
          </a:p>
          <a:p>
            <a:r>
              <a:rPr lang="en-GB" b="1" dirty="0" smtClean="0">
                <a:sym typeface="Wingdings" panose="05000000000000000000" pitchFamily="2" charset="2"/>
              </a:rPr>
              <a:t>Replace a character by another </a:t>
            </a:r>
          </a:p>
          <a:p>
            <a:pPr lvl="1"/>
            <a:r>
              <a:rPr lang="en-GB" dirty="0" err="1" smtClean="0">
                <a:sym typeface="Wingdings" panose="05000000000000000000" pitchFamily="2" charset="2"/>
              </a:rPr>
              <a:t>itt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 err="1" smtClean="0">
                <a:sym typeface="Wingdings" panose="05000000000000000000" pitchFamily="2" charset="2"/>
              </a:rPr>
              <a:t>num</a:t>
            </a:r>
            <a:r>
              <a:rPr lang="en-GB" dirty="0" smtClean="0">
                <a:sym typeface="Wingdings" panose="05000000000000000000" pitchFamily="2" charset="2"/>
              </a:rPr>
              <a:t> to </a:t>
            </a:r>
            <a:r>
              <a:rPr lang="en-GB" b="1" dirty="0" err="1" smtClean="0">
                <a:sym typeface="Wingdings" panose="05000000000000000000" pitchFamily="2" charset="2"/>
              </a:rPr>
              <a:t>int</a:t>
            </a:r>
            <a:r>
              <a:rPr lang="en-GB" b="1" dirty="0" smtClean="0">
                <a:sym typeface="Wingdings" panose="05000000000000000000" pitchFamily="2" charset="2"/>
              </a:rPr>
              <a:t> </a:t>
            </a:r>
            <a:r>
              <a:rPr lang="en-GB" b="1" dirty="0" err="1" smtClean="0">
                <a:sym typeface="Wingdings" panose="05000000000000000000" pitchFamily="2" charset="2"/>
              </a:rPr>
              <a:t>num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 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0121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Regular Expressions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Regular expressions are a convenient way to specify various </a:t>
            </a:r>
            <a:r>
              <a:rPr lang="en-GB" dirty="0" smtClean="0"/>
              <a:t>simple sets </a:t>
            </a:r>
            <a:r>
              <a:rPr lang="en-GB" dirty="0"/>
              <a:t>of strings. </a:t>
            </a:r>
            <a:endParaRPr lang="en-GB" dirty="0" smtClean="0"/>
          </a:p>
          <a:p>
            <a:r>
              <a:rPr lang="en-GB" dirty="0" smtClean="0"/>
              <a:t>They </a:t>
            </a:r>
            <a:r>
              <a:rPr lang="en-GB" dirty="0"/>
              <a:t>are of practical interest because </a:t>
            </a:r>
            <a:r>
              <a:rPr lang="en-GB" dirty="0" smtClean="0"/>
              <a:t>they can </a:t>
            </a:r>
            <a:r>
              <a:rPr lang="en-GB" dirty="0"/>
              <a:t>specify the structure of the tokens used in a programming language</a:t>
            </a:r>
            <a:r>
              <a:rPr lang="en-GB" dirty="0" smtClean="0"/>
              <a:t>.</a:t>
            </a:r>
          </a:p>
          <a:p>
            <a:r>
              <a:rPr lang="en-GB" dirty="0"/>
              <a:t>Regular expressions (REs) are a language for expressing patterns. </a:t>
            </a: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107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95" y="225276"/>
            <a:ext cx="8630099" cy="62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5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16" y="301242"/>
            <a:ext cx="9982426" cy="27788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18" y="3144017"/>
            <a:ext cx="6100482" cy="33113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00" y="3669076"/>
            <a:ext cx="5573043" cy="170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1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379" y="225275"/>
            <a:ext cx="7884292" cy="621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83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Lecture 8 Regular Expression for Token Specification and Recognition - P.  Kuppusamy - YouTub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800" y="365125"/>
            <a:ext cx="8033221" cy="602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82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Exercises for Regular Expressions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Write a Regular Expression for Identifiers (Format: must start with a small alphabet, followed by number/alphabet/_)</a:t>
            </a:r>
          </a:p>
          <a:p>
            <a:endParaRPr lang="en-GB" dirty="0"/>
          </a:p>
          <a:p>
            <a:r>
              <a:rPr lang="en-GB" dirty="0" smtClean="0"/>
              <a:t>Write a regular Expression for Decimal Point Numbers</a:t>
            </a:r>
          </a:p>
          <a:p>
            <a:endParaRPr lang="en-GB" dirty="0"/>
          </a:p>
          <a:p>
            <a:r>
              <a:rPr lang="en-GB" dirty="0" smtClean="0"/>
              <a:t>Write a Regular Expression for Keywords : If, For, While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5861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Finite Automata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</a:t>
            </a:r>
            <a:r>
              <a:rPr lang="en-GB" b="1" dirty="0"/>
              <a:t>finite automaton (FA) </a:t>
            </a:r>
            <a:r>
              <a:rPr lang="en-GB" dirty="0"/>
              <a:t>is an abstract machine that can be used to represent certain forms of computation. </a:t>
            </a:r>
            <a:endParaRPr lang="en-GB" dirty="0" smtClean="0"/>
          </a:p>
          <a:p>
            <a:r>
              <a:rPr lang="en-GB" dirty="0" smtClean="0"/>
              <a:t>Graphically</a:t>
            </a:r>
            <a:r>
              <a:rPr lang="en-GB" dirty="0"/>
              <a:t>, an FA consists of a number of states (represented by numbered circles) and a number of edges (represented by </a:t>
            </a:r>
            <a:r>
              <a:rPr lang="en-GB" dirty="0" smtClean="0"/>
              <a:t>labelled </a:t>
            </a:r>
            <a:r>
              <a:rPr lang="en-GB" dirty="0"/>
              <a:t>arrows) between those states. </a:t>
            </a:r>
            <a:endParaRPr lang="en-GB" dirty="0" smtClean="0"/>
          </a:p>
          <a:p>
            <a:r>
              <a:rPr lang="en-GB" dirty="0" smtClean="0"/>
              <a:t>Each </a:t>
            </a:r>
            <a:r>
              <a:rPr lang="en-GB" dirty="0"/>
              <a:t>edge is </a:t>
            </a:r>
            <a:r>
              <a:rPr lang="en-GB" dirty="0" smtClean="0"/>
              <a:t>labelled </a:t>
            </a:r>
            <a:r>
              <a:rPr lang="en-GB" dirty="0"/>
              <a:t>with one or more symbols drawn from </a:t>
            </a:r>
            <a:r>
              <a:rPr lang="en-GB" dirty="0" smtClean="0"/>
              <a:t>an alphabet </a:t>
            </a:r>
            <a:r>
              <a:rPr lang="en-GB" dirty="0"/>
              <a:t>Σ </a:t>
            </a:r>
            <a:endParaRPr lang="en-GB" dirty="0" smtClean="0"/>
          </a:p>
          <a:p>
            <a:r>
              <a:rPr lang="en-GB" b="1" dirty="0" smtClean="0"/>
              <a:t>Types</a:t>
            </a:r>
          </a:p>
          <a:p>
            <a:pPr lvl="1"/>
            <a:r>
              <a:rPr lang="en-GB" dirty="0" smtClean="0"/>
              <a:t>Deterministic FA</a:t>
            </a:r>
          </a:p>
          <a:p>
            <a:pPr lvl="1"/>
            <a:r>
              <a:rPr lang="en-GB" dirty="0" smtClean="0"/>
              <a:t>Non-Deterministic FA 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15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511" y="472702"/>
            <a:ext cx="7348369" cy="616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67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DFA – Deterministic FA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DFA is a special case of an FA where every state has no more than one outgoing edge for a given </a:t>
            </a:r>
            <a:r>
              <a:rPr lang="en-GB" dirty="0" smtClean="0"/>
              <a:t>symbol.</a:t>
            </a:r>
          </a:p>
          <a:p>
            <a:r>
              <a:rPr lang="en-GB" dirty="0" smtClean="0"/>
              <a:t>A </a:t>
            </a:r>
            <a:r>
              <a:rPr lang="en-GB" dirty="0"/>
              <a:t>DFA has no ambiguity: for every combination of state and input symbol, there is exactly one choice of what to do next</a:t>
            </a:r>
            <a:r>
              <a:rPr lang="en-GB" dirty="0" smtClean="0"/>
              <a:t>.</a:t>
            </a:r>
          </a:p>
          <a:p>
            <a:r>
              <a:rPr lang="en-GB" dirty="0"/>
              <a:t>Because of this property, a DFA is very easy to implement in software or hardware. 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0378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Non-Deterministic FA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NFA is a perfectly valid FA, but it has an ambiguity that makes it somewhat more difficult to work with. </a:t>
            </a:r>
            <a:endParaRPr lang="en-GB" dirty="0" smtClean="0"/>
          </a:p>
          <a:p>
            <a:r>
              <a:rPr lang="en-GB" dirty="0" smtClean="0"/>
              <a:t>Consider </a:t>
            </a:r>
            <a:r>
              <a:rPr lang="en-GB" dirty="0"/>
              <a:t>the regular expression [a-z]*</a:t>
            </a:r>
            <a:r>
              <a:rPr lang="en-GB" dirty="0" err="1"/>
              <a:t>ing</a:t>
            </a:r>
            <a:r>
              <a:rPr lang="en-GB" dirty="0"/>
              <a:t>, which represents all lowercase words ending in the suffix </a:t>
            </a:r>
            <a:r>
              <a:rPr lang="en-GB" dirty="0" err="1"/>
              <a:t>ing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18" y="3893718"/>
            <a:ext cx="4858298" cy="15604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934" y="3700080"/>
            <a:ext cx="5560584" cy="22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47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/>
              <a:t>Converting RE’s  to NFA’s</a:t>
            </a:r>
            <a:endParaRPr lang="en-GB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62210"/>
            <a:ext cx="5314458" cy="18584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5895975" cy="1076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130" y="1491334"/>
            <a:ext cx="3771900" cy="2390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76" y="4230398"/>
            <a:ext cx="37242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69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436" y="4711426"/>
            <a:ext cx="6457950" cy="1714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Converting RE’s  to NFA’s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26247" y="1690687"/>
            <a:ext cx="5905500" cy="1695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7"/>
            <a:ext cx="4388047" cy="16441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93" y="4711427"/>
            <a:ext cx="5424860" cy="15403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930" y="4563789"/>
            <a:ext cx="2495550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8185" y="4392339"/>
            <a:ext cx="280987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49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 smtClean="0"/>
              <a:t>Converting NFA’s to DFA’s  (Subset Construction)</a:t>
            </a: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04" y="1491456"/>
            <a:ext cx="7113464" cy="9723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04" y="2463800"/>
            <a:ext cx="7165042" cy="419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79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76" y="233026"/>
            <a:ext cx="9843247" cy="644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33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Token Recognition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917" y="1825624"/>
            <a:ext cx="5604958" cy="41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02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" y="2403773"/>
            <a:ext cx="4999525" cy="32117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15" y="2403773"/>
            <a:ext cx="5538891" cy="345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18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040" y="2557304"/>
            <a:ext cx="6571698" cy="20792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48" y="2309878"/>
            <a:ext cx="4878898" cy="30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80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2720" y="108865"/>
            <a:ext cx="9171332" cy="656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5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1537" y="94746"/>
            <a:ext cx="9252473" cy="666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58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Relational Operators Transition Diagram (TD)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8656" y="1820220"/>
            <a:ext cx="6842760" cy="50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02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Operators </a:t>
            </a:r>
            <a:r>
              <a:rPr lang="en-GB" dirty="0" smtClean="0"/>
              <a:t>Program(For Lexical)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071" y="1657798"/>
            <a:ext cx="5114702" cy="46869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3592" y="1727262"/>
            <a:ext cx="3764502" cy="454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04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 smtClean="0"/>
          </a:p>
          <a:p>
            <a:r>
              <a:rPr lang="en-GB" dirty="0"/>
              <a:t>Compilers: Principles, Techniques, and Tools 2nd </a:t>
            </a:r>
            <a:r>
              <a:rPr lang="en-GB" dirty="0" smtClean="0"/>
              <a:t>Edition</a:t>
            </a:r>
            <a:br>
              <a:rPr lang="en-GB" dirty="0" smtClean="0"/>
            </a:br>
            <a:r>
              <a:rPr lang="en-GB" dirty="0" smtClean="0"/>
              <a:t> by </a:t>
            </a:r>
            <a:r>
              <a:rPr lang="en-GB" dirty="0"/>
              <a:t>Alfred </a:t>
            </a:r>
            <a:r>
              <a:rPr lang="en-GB" dirty="0" err="1"/>
              <a:t>Aho</a:t>
            </a:r>
            <a:r>
              <a:rPr lang="en-GB" dirty="0"/>
              <a:t> </a:t>
            </a:r>
            <a:r>
              <a:rPr lang="en-GB" dirty="0" smtClean="0"/>
              <a:t>, Jeffrey Ullman, Ravi </a:t>
            </a:r>
            <a:r>
              <a:rPr lang="en-GB" dirty="0" err="1" smtClean="0"/>
              <a:t>Sethi</a:t>
            </a:r>
            <a:r>
              <a:rPr lang="en-GB" dirty="0" smtClean="0"/>
              <a:t>, Monica Lam</a:t>
            </a:r>
          </a:p>
          <a:p>
            <a:endParaRPr lang="en-GB" dirty="0" smtClean="0"/>
          </a:p>
          <a:p>
            <a:r>
              <a:rPr lang="en-GB" dirty="0" smtClean="0"/>
              <a:t>Introduction </a:t>
            </a:r>
            <a:r>
              <a:rPr lang="en-GB" dirty="0"/>
              <a:t>to Compilers and Language </a:t>
            </a:r>
            <a:r>
              <a:rPr lang="en-GB" dirty="0" smtClean="0"/>
              <a:t>Design | Second Edition | </a:t>
            </a:r>
            <a:r>
              <a:rPr lang="en-GB" dirty="0" err="1" smtClean="0"/>
              <a:t>Prof</a:t>
            </a:r>
            <a:r>
              <a:rPr lang="en-GB" dirty="0" err="1"/>
              <a:t>.</a:t>
            </a:r>
            <a:r>
              <a:rPr lang="en-GB" dirty="0"/>
              <a:t> </a:t>
            </a:r>
            <a:r>
              <a:rPr lang="en-GB" dirty="0" smtClean="0"/>
              <a:t>Douglas </a:t>
            </a:r>
            <a:r>
              <a:rPr lang="en-GB" dirty="0" err="1" smtClean="0"/>
              <a:t>Thain</a:t>
            </a:r>
            <a:r>
              <a:rPr lang="en-GB" dirty="0" smtClean="0"/>
              <a:t> - University </a:t>
            </a:r>
            <a:r>
              <a:rPr lang="en-GB" dirty="0"/>
              <a:t>of Notre Dame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1038</Words>
  <Application>Microsoft Office PowerPoint</Application>
  <PresentationFormat>Widescreen</PresentationFormat>
  <Paragraphs>153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Compiler Construction</vt:lpstr>
      <vt:lpstr>Week 2:</vt:lpstr>
      <vt:lpstr>Role of Lexical Analyser</vt:lpstr>
      <vt:lpstr>Input Buffering</vt:lpstr>
      <vt:lpstr>Solution: Two-Buffer Scheme: (Buffer Pair)</vt:lpstr>
      <vt:lpstr>Interaction with Symbol Table</vt:lpstr>
      <vt:lpstr>Tokens, Patterns, and Lexemes </vt:lpstr>
      <vt:lpstr>Kinds of Tokens</vt:lpstr>
      <vt:lpstr>Example of Tokenization</vt:lpstr>
      <vt:lpstr>Exercises (Find the number of tokens)</vt:lpstr>
      <vt:lpstr>Symbol Table</vt:lpstr>
      <vt:lpstr>Symbol Table Usage by Phases</vt:lpstr>
      <vt:lpstr>PowerPoint Presentation</vt:lpstr>
      <vt:lpstr>Errors</vt:lpstr>
      <vt:lpstr>Lexical Errors</vt:lpstr>
      <vt:lpstr>Lexical Errors</vt:lpstr>
      <vt:lpstr>Lexical Errors Recovery</vt:lpstr>
      <vt:lpstr>Regular Expressions</vt:lpstr>
      <vt:lpstr>PowerPoint Presentation</vt:lpstr>
      <vt:lpstr>PowerPoint Presentation</vt:lpstr>
      <vt:lpstr>PowerPoint Presentation</vt:lpstr>
      <vt:lpstr>PowerPoint Presentation</vt:lpstr>
      <vt:lpstr>Exercises for Regular Expressions</vt:lpstr>
      <vt:lpstr>Finite Automata</vt:lpstr>
      <vt:lpstr>PowerPoint Presentation</vt:lpstr>
      <vt:lpstr>DFA – Deterministic FA</vt:lpstr>
      <vt:lpstr>Non-Deterministic FA</vt:lpstr>
      <vt:lpstr>Converting RE’s  to NFA’s</vt:lpstr>
      <vt:lpstr>Converting RE’s  to NFA’s</vt:lpstr>
      <vt:lpstr>Converting NFA’s to DFA’s  (Subset Construction)</vt:lpstr>
      <vt:lpstr>PowerPoint Presentation</vt:lpstr>
      <vt:lpstr>Token Recognition </vt:lpstr>
      <vt:lpstr>PowerPoint Presentation</vt:lpstr>
      <vt:lpstr>PowerPoint Presentation</vt:lpstr>
      <vt:lpstr>PowerPoint Presentation</vt:lpstr>
      <vt:lpstr>PowerPoint Presentation</vt:lpstr>
      <vt:lpstr>Relational Operators Transition Diagram (TD)</vt:lpstr>
      <vt:lpstr>Relational Operators Program(For Lexical)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</dc:title>
  <dc:creator>Zufiqar Ali</dc:creator>
  <cp:lastModifiedBy>Zufiqar Ali</cp:lastModifiedBy>
  <cp:revision>393</cp:revision>
  <dcterms:created xsi:type="dcterms:W3CDTF">2025-08-08T09:42:33Z</dcterms:created>
  <dcterms:modified xsi:type="dcterms:W3CDTF">2025-08-27T05:17:34Z</dcterms:modified>
</cp:coreProperties>
</file>