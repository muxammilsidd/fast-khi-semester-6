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sldIdLst>
    <p:sldId id="256" r:id="rId2"/>
    <p:sldId id="257" r:id="rId3"/>
    <p:sldId id="258" r:id="rId4"/>
    <p:sldId id="259" r:id="rId5"/>
    <p:sldId id="260" r:id="rId6"/>
    <p:sldId id="262" r:id="rId7"/>
    <p:sldId id="261" r:id="rId8"/>
    <p:sldId id="263" r:id="rId9"/>
    <p:sldId id="264" r:id="rId10"/>
    <p:sldId id="265" r:id="rId11"/>
    <p:sldId id="266" r:id="rId12"/>
    <p:sldId id="268" r:id="rId13"/>
    <p:sldId id="267" r:id="rId14"/>
    <p:sldId id="271" r:id="rId15"/>
    <p:sldId id="269" r:id="rId16"/>
    <p:sldId id="291" r:id="rId17"/>
    <p:sldId id="292" r:id="rId18"/>
    <p:sldId id="270" r:id="rId19"/>
    <p:sldId id="273" r:id="rId20"/>
    <p:sldId id="293" r:id="rId21"/>
    <p:sldId id="274"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4" r:id="rId38"/>
    <p:sldId id="295" r:id="rId39"/>
    <p:sldId id="296" r:id="rId40"/>
    <p:sldId id="297" r:id="rId41"/>
    <p:sldId id="298" r:id="rId42"/>
    <p:sldId id="299" r:id="rId43"/>
    <p:sldId id="300" r:id="rId44"/>
    <p:sldId id="301" r:id="rId45"/>
    <p:sldId id="302" r:id="rId46"/>
    <p:sldId id="272"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15" autoAdjust="0"/>
    <p:restoredTop sz="94660"/>
  </p:normalViewPr>
  <p:slideViewPr>
    <p:cSldViewPr snapToGrid="0">
      <p:cViewPr varScale="1">
        <p:scale>
          <a:sx n="89" d="100"/>
          <a:sy n="89" d="100"/>
        </p:scale>
        <p:origin x="120"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9E53E1-CEB2-494C-8775-D8A99ED827E9}" type="datetimeFigureOut">
              <a:rPr lang="en-GB" smtClean="0"/>
              <a:t>19/08/2025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7A4238-B7B9-460B-BE74-ADFB88CFFB6C}" type="slidenum">
              <a:rPr lang="en-GB" smtClean="0"/>
              <a:t>‹#›</a:t>
            </a:fld>
            <a:endParaRPr lang="en-GB"/>
          </a:p>
        </p:txBody>
      </p:sp>
    </p:spTree>
    <p:extLst>
      <p:ext uri="{BB962C8B-B14F-4D97-AF65-F5344CB8AC3E}">
        <p14:creationId xmlns:p14="http://schemas.microsoft.com/office/powerpoint/2010/main" val="40190461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4008718-F271-459F-AEBA-D315249C88F9}" type="slidenum">
              <a:rPr lang="en-US" smtClean="0"/>
              <a:t>31</a:t>
            </a:fld>
            <a:endParaRPr lang="en-US"/>
          </a:p>
        </p:txBody>
      </p:sp>
    </p:spTree>
    <p:extLst>
      <p:ext uri="{BB962C8B-B14F-4D97-AF65-F5344CB8AC3E}">
        <p14:creationId xmlns:p14="http://schemas.microsoft.com/office/powerpoint/2010/main" val="8465340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4008718-F271-459F-AEBA-D315249C88F9}" type="slidenum">
              <a:rPr lang="en-US" smtClean="0"/>
              <a:t>32</a:t>
            </a:fld>
            <a:endParaRPr lang="en-US"/>
          </a:p>
        </p:txBody>
      </p:sp>
    </p:spTree>
    <p:extLst>
      <p:ext uri="{BB962C8B-B14F-4D97-AF65-F5344CB8AC3E}">
        <p14:creationId xmlns:p14="http://schemas.microsoft.com/office/powerpoint/2010/main" val="17843268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84F1EA38-8D09-4040-A9B0-3F77DCDCC836}" type="datetimeFigureOut">
              <a:rPr lang="en-GB" smtClean="0"/>
              <a:t>19/08/2025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8EDA373-3783-415D-A360-F08463BF1C8E}" type="slidenum">
              <a:rPr lang="en-GB" smtClean="0"/>
              <a:t>‹#›</a:t>
            </a:fld>
            <a:endParaRPr lang="en-GB"/>
          </a:p>
        </p:txBody>
      </p:sp>
    </p:spTree>
    <p:extLst>
      <p:ext uri="{BB962C8B-B14F-4D97-AF65-F5344CB8AC3E}">
        <p14:creationId xmlns:p14="http://schemas.microsoft.com/office/powerpoint/2010/main" val="34271682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84F1EA38-8D09-4040-A9B0-3F77DCDCC836}" type="datetimeFigureOut">
              <a:rPr lang="en-GB" smtClean="0"/>
              <a:t>19/08/2025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8EDA373-3783-415D-A360-F08463BF1C8E}" type="slidenum">
              <a:rPr lang="en-GB" smtClean="0"/>
              <a:t>‹#›</a:t>
            </a:fld>
            <a:endParaRPr lang="en-GB"/>
          </a:p>
        </p:txBody>
      </p:sp>
    </p:spTree>
    <p:extLst>
      <p:ext uri="{BB962C8B-B14F-4D97-AF65-F5344CB8AC3E}">
        <p14:creationId xmlns:p14="http://schemas.microsoft.com/office/powerpoint/2010/main" val="8255816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4F1EA38-8D09-4040-A9B0-3F77DCDCC836}" type="datetimeFigureOut">
              <a:rPr lang="en-GB" smtClean="0"/>
              <a:t>19/08/2025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8EDA373-3783-415D-A360-F08463BF1C8E}" type="slidenum">
              <a:rPr lang="en-GB" smtClean="0"/>
              <a:t>‹#›</a:t>
            </a:fld>
            <a:endParaRPr lang="en-GB"/>
          </a:p>
        </p:txBody>
      </p:sp>
    </p:spTree>
    <p:extLst>
      <p:ext uri="{BB962C8B-B14F-4D97-AF65-F5344CB8AC3E}">
        <p14:creationId xmlns:p14="http://schemas.microsoft.com/office/powerpoint/2010/main" val="34658037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84F1EA38-8D09-4040-A9B0-3F77DCDCC836}" type="datetimeFigureOut">
              <a:rPr lang="en-GB" smtClean="0"/>
              <a:t>19/08/2025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8EDA373-3783-415D-A360-F08463BF1C8E}" type="slidenum">
              <a:rPr lang="en-GB" smtClean="0"/>
              <a:t>‹#›</a:t>
            </a:fld>
            <a:endParaRPr lang="en-GB"/>
          </a:p>
        </p:txBody>
      </p:sp>
    </p:spTree>
    <p:extLst>
      <p:ext uri="{BB962C8B-B14F-4D97-AF65-F5344CB8AC3E}">
        <p14:creationId xmlns:p14="http://schemas.microsoft.com/office/powerpoint/2010/main" val="11106018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84F1EA38-8D09-4040-A9B0-3F77DCDCC836}" type="datetimeFigureOut">
              <a:rPr lang="en-GB" smtClean="0"/>
              <a:t>19/08/2025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28EDA373-3783-415D-A360-F08463BF1C8E}" type="slidenum">
              <a:rPr lang="en-GB" smtClean="0"/>
              <a:t>‹#›</a:t>
            </a:fld>
            <a:endParaRPr lang="en-GB"/>
          </a:p>
        </p:txBody>
      </p:sp>
    </p:spTree>
    <p:extLst>
      <p:ext uri="{BB962C8B-B14F-4D97-AF65-F5344CB8AC3E}">
        <p14:creationId xmlns:p14="http://schemas.microsoft.com/office/powerpoint/2010/main" val="11520254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84F1EA38-8D09-4040-A9B0-3F77DCDCC836}" type="datetimeFigureOut">
              <a:rPr lang="en-GB" smtClean="0"/>
              <a:t>19/08/2025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28EDA373-3783-415D-A360-F08463BF1C8E}" type="slidenum">
              <a:rPr lang="en-GB" smtClean="0"/>
              <a:t>‹#›</a:t>
            </a:fld>
            <a:endParaRPr lang="en-GB"/>
          </a:p>
        </p:txBody>
      </p:sp>
    </p:spTree>
    <p:extLst>
      <p:ext uri="{BB962C8B-B14F-4D97-AF65-F5344CB8AC3E}">
        <p14:creationId xmlns:p14="http://schemas.microsoft.com/office/powerpoint/2010/main" val="20315546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F1EA38-8D09-4040-A9B0-3F77DCDCC836}" type="datetimeFigureOut">
              <a:rPr lang="en-GB" smtClean="0"/>
              <a:t>19/08/2025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28EDA373-3783-415D-A360-F08463BF1C8E}" type="slidenum">
              <a:rPr lang="en-GB" smtClean="0"/>
              <a:t>‹#›</a:t>
            </a:fld>
            <a:endParaRPr lang="en-GB"/>
          </a:p>
        </p:txBody>
      </p:sp>
    </p:spTree>
    <p:extLst>
      <p:ext uri="{BB962C8B-B14F-4D97-AF65-F5344CB8AC3E}">
        <p14:creationId xmlns:p14="http://schemas.microsoft.com/office/powerpoint/2010/main" val="23435443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4F1EA38-8D09-4040-A9B0-3F77DCDCC836}" type="datetimeFigureOut">
              <a:rPr lang="en-GB" smtClean="0"/>
              <a:t>19/08/2025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8EDA373-3783-415D-A360-F08463BF1C8E}" type="slidenum">
              <a:rPr lang="en-GB" smtClean="0"/>
              <a:t>‹#›</a:t>
            </a:fld>
            <a:endParaRPr lang="en-GB"/>
          </a:p>
        </p:txBody>
      </p:sp>
    </p:spTree>
    <p:extLst>
      <p:ext uri="{BB962C8B-B14F-4D97-AF65-F5344CB8AC3E}">
        <p14:creationId xmlns:p14="http://schemas.microsoft.com/office/powerpoint/2010/main" val="41561629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4F1EA38-8D09-4040-A9B0-3F77DCDCC836}" type="datetimeFigureOut">
              <a:rPr lang="en-GB" smtClean="0"/>
              <a:t>19/08/2025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8EDA373-3783-415D-A360-F08463BF1C8E}" type="slidenum">
              <a:rPr lang="en-GB" smtClean="0"/>
              <a:t>‹#›</a:t>
            </a:fld>
            <a:endParaRPr lang="en-GB"/>
          </a:p>
        </p:txBody>
      </p:sp>
    </p:spTree>
    <p:extLst>
      <p:ext uri="{BB962C8B-B14F-4D97-AF65-F5344CB8AC3E}">
        <p14:creationId xmlns:p14="http://schemas.microsoft.com/office/powerpoint/2010/main" val="22340395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84F1EA38-8D09-4040-A9B0-3F77DCDCC836}" type="datetimeFigureOut">
              <a:rPr lang="en-GB" smtClean="0"/>
              <a:t>19/08/2025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8EDA373-3783-415D-A360-F08463BF1C8E}" type="slidenum">
              <a:rPr lang="en-GB" smtClean="0"/>
              <a:t>‹#›</a:t>
            </a:fld>
            <a:endParaRPr lang="en-GB"/>
          </a:p>
        </p:txBody>
      </p:sp>
    </p:spTree>
    <p:extLst>
      <p:ext uri="{BB962C8B-B14F-4D97-AF65-F5344CB8AC3E}">
        <p14:creationId xmlns:p14="http://schemas.microsoft.com/office/powerpoint/2010/main" val="14016077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84F1EA38-8D09-4040-A9B0-3F77DCDCC836}" type="datetimeFigureOut">
              <a:rPr lang="en-GB" smtClean="0"/>
              <a:t>19/08/2025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8EDA373-3783-415D-A360-F08463BF1C8E}" type="slidenum">
              <a:rPr lang="en-GB" smtClean="0"/>
              <a:t>‹#›</a:t>
            </a:fld>
            <a:endParaRPr lang="en-GB"/>
          </a:p>
        </p:txBody>
      </p:sp>
    </p:spTree>
    <p:extLst>
      <p:ext uri="{BB962C8B-B14F-4D97-AF65-F5344CB8AC3E}">
        <p14:creationId xmlns:p14="http://schemas.microsoft.com/office/powerpoint/2010/main" val="4936921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F1EA38-8D09-4040-A9B0-3F77DCDCC836}" type="datetimeFigureOut">
              <a:rPr lang="en-GB" smtClean="0"/>
              <a:t>19/08/2025</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8EDA373-3783-415D-A360-F08463BF1C8E}" type="slidenum">
              <a:rPr lang="en-GB" smtClean="0"/>
              <a:t>‹#›</a:t>
            </a:fld>
            <a:endParaRPr lang="en-GB"/>
          </a:p>
        </p:txBody>
      </p:sp>
    </p:spTree>
    <p:extLst>
      <p:ext uri="{BB962C8B-B14F-4D97-AF65-F5344CB8AC3E}">
        <p14:creationId xmlns:p14="http://schemas.microsoft.com/office/powerpoint/2010/main" val="34142150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Zulfiqar.rafique@nu.edu.pk"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0.png"/><Relationship Id="rId1" Type="http://schemas.openxmlformats.org/officeDocument/2006/relationships/slideLayout" Target="../slideLayouts/slideLayout2.xml"/><Relationship Id="rId5" Type="http://schemas.microsoft.com/office/2007/relationships/hdphoto" Target="../media/hdphoto3.wdp"/><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smtClean="0"/>
              <a:t>Compiler Construction</a:t>
            </a:r>
            <a:endParaRPr lang="en-GB" dirty="0"/>
          </a:p>
        </p:txBody>
      </p:sp>
      <p:sp>
        <p:nvSpPr>
          <p:cNvPr id="3" name="Subtitle 2"/>
          <p:cNvSpPr>
            <a:spLocks noGrp="1"/>
          </p:cNvSpPr>
          <p:nvPr>
            <p:ph type="subTitle" idx="1"/>
          </p:nvPr>
        </p:nvSpPr>
        <p:spPr/>
        <p:txBody>
          <a:bodyPr/>
          <a:lstStyle/>
          <a:p>
            <a:r>
              <a:rPr lang="en-GB" dirty="0" smtClean="0"/>
              <a:t>Teacher : Zulfiqar Ali</a:t>
            </a:r>
          </a:p>
          <a:p>
            <a:r>
              <a:rPr lang="en-GB" dirty="0" smtClean="0"/>
              <a:t>Email: </a:t>
            </a:r>
            <a:r>
              <a:rPr lang="en-GB" dirty="0" smtClean="0">
                <a:hlinkClick r:id="rId2"/>
              </a:rPr>
              <a:t>Zulfiqar.rafique@nu.edu.pk</a:t>
            </a:r>
            <a:endParaRPr lang="en-GB" dirty="0" smtClean="0"/>
          </a:p>
          <a:p>
            <a:r>
              <a:rPr lang="en-GB" dirty="0" smtClean="0"/>
              <a:t>Office: No.6,Basement -1 (CS Block 1)</a:t>
            </a:r>
            <a:endParaRPr lang="en-GB" dirty="0"/>
          </a:p>
        </p:txBody>
      </p:sp>
    </p:spTree>
    <p:extLst>
      <p:ext uri="{BB962C8B-B14F-4D97-AF65-F5344CB8AC3E}">
        <p14:creationId xmlns:p14="http://schemas.microsoft.com/office/powerpoint/2010/main" val="40885785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Syllabus</a:t>
            </a:r>
            <a:br>
              <a:rPr lang="en-GB" dirty="0" smtClean="0"/>
            </a:br>
            <a:endParaRPr lang="en-GB" dirty="0"/>
          </a:p>
        </p:txBody>
      </p:sp>
      <p:sp>
        <p:nvSpPr>
          <p:cNvPr id="3" name="Content Placeholder 2"/>
          <p:cNvSpPr>
            <a:spLocks noGrp="1"/>
          </p:cNvSpPr>
          <p:nvPr>
            <p:ph idx="1"/>
          </p:nvPr>
        </p:nvSpPr>
        <p:spPr/>
        <p:txBody>
          <a:bodyPr>
            <a:normAutofit/>
          </a:bodyPr>
          <a:lstStyle/>
          <a:p>
            <a:r>
              <a:rPr lang="en-GB" dirty="0" smtClean="0"/>
              <a:t>Prerequisite</a:t>
            </a:r>
            <a:r>
              <a:rPr lang="en-GB" dirty="0"/>
              <a:t>:</a:t>
            </a:r>
          </a:p>
          <a:p>
            <a:pPr lvl="1"/>
            <a:r>
              <a:rPr lang="en-GB" dirty="0" smtClean="0"/>
              <a:t>Theory </a:t>
            </a:r>
            <a:r>
              <a:rPr lang="en-GB" dirty="0"/>
              <a:t>of Automata</a:t>
            </a:r>
          </a:p>
          <a:p>
            <a:r>
              <a:rPr lang="en-GB" b="1" dirty="0"/>
              <a:t>Contents:</a:t>
            </a:r>
          </a:p>
          <a:p>
            <a:r>
              <a:rPr lang="en-GB" dirty="0" smtClean="0"/>
              <a:t>Introduction </a:t>
            </a:r>
            <a:r>
              <a:rPr lang="en-GB" dirty="0"/>
              <a:t>to interpreter and compiler. Compiler techniques </a:t>
            </a:r>
            <a:r>
              <a:rPr lang="en-GB" dirty="0" smtClean="0"/>
              <a:t>and methodology</a:t>
            </a:r>
            <a:r>
              <a:rPr lang="en-GB" dirty="0"/>
              <a:t>, Organization of compilers; Lexical and syntax </a:t>
            </a:r>
            <a:r>
              <a:rPr lang="en-GB" dirty="0" smtClean="0"/>
              <a:t>analysis; Parsing </a:t>
            </a:r>
            <a:r>
              <a:rPr lang="en-GB" dirty="0"/>
              <a:t>techniques. Types of parsers, top-down parsing, </a:t>
            </a:r>
            <a:r>
              <a:rPr lang="en-GB" dirty="0" smtClean="0"/>
              <a:t>bottom-up parsing</a:t>
            </a:r>
            <a:r>
              <a:rPr lang="en-GB" dirty="0"/>
              <a:t>, Type checking, Semantic analyser, Object code </a:t>
            </a:r>
            <a:r>
              <a:rPr lang="en-GB" dirty="0" smtClean="0"/>
              <a:t>generation and optimization</a:t>
            </a:r>
            <a:r>
              <a:rPr lang="en-GB" dirty="0"/>
              <a:t>, detection and recovery from errors.</a:t>
            </a:r>
            <a:r>
              <a:rPr lang="en-GB" dirty="0" smtClean="0"/>
              <a:t> </a:t>
            </a:r>
            <a:br>
              <a:rPr lang="en-GB" dirty="0" smtClean="0"/>
            </a:br>
            <a:endParaRPr lang="en-GB" dirty="0"/>
          </a:p>
        </p:txBody>
      </p:sp>
    </p:spTree>
    <p:extLst>
      <p:ext uri="{BB962C8B-B14F-4D97-AF65-F5344CB8AC3E}">
        <p14:creationId xmlns:p14="http://schemas.microsoft.com/office/powerpoint/2010/main" val="2021255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Course Learning Outcomes (CLO’s)</a:t>
            </a:r>
            <a:endParaRPr lang="en-GB"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276854046"/>
              </p:ext>
            </p:extLst>
          </p:nvPr>
        </p:nvGraphicFramePr>
        <p:xfrm>
          <a:off x="1137882" y="1801953"/>
          <a:ext cx="9275521" cy="3781266"/>
        </p:xfrm>
        <a:graphic>
          <a:graphicData uri="http://schemas.openxmlformats.org/drawingml/2006/table">
            <a:tbl>
              <a:tblPr firstRow="1" firstCol="1" bandRow="1">
                <a:tableStyleId>{5C22544A-7EE6-4342-B048-85BDC9FD1C3A}</a:tableStyleId>
              </a:tblPr>
              <a:tblGrid>
                <a:gridCol w="589806">
                  <a:extLst>
                    <a:ext uri="{9D8B030D-6E8A-4147-A177-3AD203B41FA5}">
                      <a16:colId xmlns:a16="http://schemas.microsoft.com/office/drawing/2014/main" val="1983074695"/>
                    </a:ext>
                  </a:extLst>
                </a:gridCol>
                <a:gridCol w="5729867">
                  <a:extLst>
                    <a:ext uri="{9D8B030D-6E8A-4147-A177-3AD203B41FA5}">
                      <a16:colId xmlns:a16="http://schemas.microsoft.com/office/drawing/2014/main" val="2584889732"/>
                    </a:ext>
                  </a:extLst>
                </a:gridCol>
                <a:gridCol w="1079606">
                  <a:extLst>
                    <a:ext uri="{9D8B030D-6E8A-4147-A177-3AD203B41FA5}">
                      <a16:colId xmlns:a16="http://schemas.microsoft.com/office/drawing/2014/main" val="4266854992"/>
                    </a:ext>
                  </a:extLst>
                </a:gridCol>
                <a:gridCol w="1876242">
                  <a:extLst>
                    <a:ext uri="{9D8B030D-6E8A-4147-A177-3AD203B41FA5}">
                      <a16:colId xmlns:a16="http://schemas.microsoft.com/office/drawing/2014/main" val="3367028054"/>
                    </a:ext>
                  </a:extLst>
                </a:gridCol>
              </a:tblGrid>
              <a:tr h="306589">
                <a:tc>
                  <a:txBody>
                    <a:bodyPr/>
                    <a:lstStyle/>
                    <a:p>
                      <a:pPr algn="l">
                        <a:spcBef>
                          <a:spcPts val="200"/>
                        </a:spcBef>
                        <a:spcAft>
                          <a:spcPts val="200"/>
                        </a:spcAft>
                        <a:tabLst>
                          <a:tab pos="-182880" algn="l"/>
                          <a:tab pos="640080" algn="l"/>
                          <a:tab pos="868680" algn="l"/>
                          <a:tab pos="1097280" algn="l"/>
                          <a:tab pos="1325880" algn="l"/>
                          <a:tab pos="1554480" algn="l"/>
                          <a:tab pos="1783080" algn="l"/>
                          <a:tab pos="2011680" algn="l"/>
                          <a:tab pos="2240280" algn="l"/>
                          <a:tab pos="2468880" algn="l"/>
                          <a:tab pos="2697480" algn="l"/>
                          <a:tab pos="2926080" algn="l"/>
                          <a:tab pos="3154680" algn="l"/>
                          <a:tab pos="3314700" algn="l"/>
                          <a:tab pos="3611880" algn="l"/>
                          <a:tab pos="3840480" algn="l"/>
                          <a:tab pos="4069080" algn="l"/>
                          <a:tab pos="4297680" algn="l"/>
                          <a:tab pos="4526280" algn="l"/>
                          <a:tab pos="4754880" algn="l"/>
                          <a:tab pos="5143500" algn="l"/>
                          <a:tab pos="5326380" algn="l"/>
                          <a:tab pos="5486400" algn="l"/>
                        </a:tabLst>
                      </a:pPr>
                      <a:r>
                        <a:rPr lang="en-US" sz="1400" baseline="0">
                          <a:effectLst/>
                        </a:rPr>
                        <a:t>No</a:t>
                      </a:r>
                      <a:endParaRPr lang="en-GB" sz="1400" baseline="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l">
                        <a:spcBef>
                          <a:spcPts val="200"/>
                        </a:spcBef>
                        <a:spcAft>
                          <a:spcPts val="200"/>
                        </a:spcAft>
                        <a:tabLst>
                          <a:tab pos="-182880" algn="l"/>
                          <a:tab pos="640080" algn="l"/>
                          <a:tab pos="868680" algn="l"/>
                          <a:tab pos="1097280" algn="l"/>
                          <a:tab pos="1325880" algn="l"/>
                          <a:tab pos="1554480" algn="l"/>
                          <a:tab pos="1783080" algn="l"/>
                          <a:tab pos="2011680" algn="l"/>
                          <a:tab pos="2240280" algn="l"/>
                          <a:tab pos="2468880" algn="l"/>
                          <a:tab pos="2697480" algn="l"/>
                          <a:tab pos="2926080" algn="l"/>
                          <a:tab pos="3154680" algn="l"/>
                          <a:tab pos="3314700" algn="l"/>
                          <a:tab pos="3611880" algn="l"/>
                          <a:tab pos="3840480" algn="l"/>
                          <a:tab pos="4069080" algn="l"/>
                          <a:tab pos="4297680" algn="l"/>
                          <a:tab pos="4526280" algn="l"/>
                          <a:tab pos="4754880" algn="l"/>
                          <a:tab pos="5143500" algn="l"/>
                          <a:tab pos="5326380" algn="l"/>
                          <a:tab pos="5486400" algn="l"/>
                        </a:tabLst>
                      </a:pPr>
                      <a:r>
                        <a:rPr lang="en-US" sz="1400" baseline="0">
                          <a:effectLst/>
                        </a:rPr>
                        <a:t>CLO</a:t>
                      </a:r>
                      <a:endParaRPr lang="en-GB" sz="1400" baseline="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l">
                        <a:spcBef>
                          <a:spcPts val="200"/>
                        </a:spcBef>
                        <a:spcAft>
                          <a:spcPts val="200"/>
                        </a:spcAft>
                        <a:tabLst>
                          <a:tab pos="-182880" algn="l"/>
                          <a:tab pos="640080" algn="l"/>
                          <a:tab pos="868680" algn="l"/>
                          <a:tab pos="1097280" algn="l"/>
                          <a:tab pos="1325880" algn="l"/>
                          <a:tab pos="1554480" algn="l"/>
                          <a:tab pos="1783080" algn="l"/>
                          <a:tab pos="2011680" algn="l"/>
                          <a:tab pos="2240280" algn="l"/>
                          <a:tab pos="2468880" algn="l"/>
                          <a:tab pos="2697480" algn="l"/>
                          <a:tab pos="2926080" algn="l"/>
                          <a:tab pos="3154680" algn="l"/>
                          <a:tab pos="3314700" algn="l"/>
                          <a:tab pos="3611880" algn="l"/>
                          <a:tab pos="3840480" algn="l"/>
                          <a:tab pos="4069080" algn="l"/>
                          <a:tab pos="4297680" algn="l"/>
                          <a:tab pos="4526280" algn="l"/>
                          <a:tab pos="4754880" algn="l"/>
                          <a:tab pos="5143500" algn="l"/>
                          <a:tab pos="5326380" algn="l"/>
                          <a:tab pos="5486400" algn="l"/>
                        </a:tabLst>
                      </a:pPr>
                      <a:r>
                        <a:rPr lang="en-US" sz="1400" baseline="0">
                          <a:effectLst/>
                        </a:rPr>
                        <a:t>Domain</a:t>
                      </a:r>
                      <a:endParaRPr lang="en-GB" sz="1400" baseline="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l">
                        <a:spcBef>
                          <a:spcPts val="200"/>
                        </a:spcBef>
                        <a:spcAft>
                          <a:spcPts val="200"/>
                        </a:spcAft>
                        <a:tabLst>
                          <a:tab pos="-182880" algn="l"/>
                          <a:tab pos="640080" algn="l"/>
                          <a:tab pos="868680" algn="l"/>
                          <a:tab pos="1097280" algn="l"/>
                          <a:tab pos="1325880" algn="l"/>
                          <a:tab pos="1554480" algn="l"/>
                          <a:tab pos="1783080" algn="l"/>
                          <a:tab pos="2011680" algn="l"/>
                          <a:tab pos="2240280" algn="l"/>
                          <a:tab pos="2468880" algn="l"/>
                          <a:tab pos="2697480" algn="l"/>
                          <a:tab pos="2926080" algn="l"/>
                          <a:tab pos="3154680" algn="l"/>
                          <a:tab pos="3314700" algn="l"/>
                          <a:tab pos="3611880" algn="l"/>
                          <a:tab pos="3840480" algn="l"/>
                          <a:tab pos="4069080" algn="l"/>
                          <a:tab pos="4297680" algn="l"/>
                          <a:tab pos="4526280" algn="l"/>
                          <a:tab pos="4754880" algn="l"/>
                          <a:tab pos="5143500" algn="l"/>
                          <a:tab pos="5326380" algn="l"/>
                          <a:tab pos="5486400" algn="l"/>
                        </a:tabLst>
                      </a:pPr>
                      <a:r>
                        <a:rPr lang="en-US" sz="1400" baseline="0">
                          <a:effectLst/>
                        </a:rPr>
                        <a:t>Taxonomy level</a:t>
                      </a:r>
                      <a:endParaRPr lang="en-GB" sz="1400" baseline="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126152513"/>
                  </a:ext>
                </a:extLst>
              </a:tr>
              <a:tr h="1226357">
                <a:tc>
                  <a:txBody>
                    <a:bodyPr/>
                    <a:lstStyle/>
                    <a:p>
                      <a:pPr algn="l">
                        <a:spcBef>
                          <a:spcPts val="200"/>
                        </a:spcBef>
                        <a:spcAft>
                          <a:spcPts val="200"/>
                        </a:spcAft>
                        <a:tabLst>
                          <a:tab pos="-182880" algn="l"/>
                          <a:tab pos="640080" algn="l"/>
                          <a:tab pos="868680" algn="l"/>
                          <a:tab pos="1097280" algn="l"/>
                          <a:tab pos="1325880" algn="l"/>
                          <a:tab pos="1554480" algn="l"/>
                          <a:tab pos="1783080" algn="l"/>
                          <a:tab pos="2011680" algn="l"/>
                          <a:tab pos="2240280" algn="l"/>
                          <a:tab pos="2468880" algn="l"/>
                          <a:tab pos="2697480" algn="l"/>
                          <a:tab pos="2926080" algn="l"/>
                          <a:tab pos="3154680" algn="l"/>
                          <a:tab pos="3314700" algn="l"/>
                          <a:tab pos="3611880" algn="l"/>
                          <a:tab pos="3840480" algn="l"/>
                          <a:tab pos="4069080" algn="l"/>
                          <a:tab pos="4297680" algn="l"/>
                          <a:tab pos="4526280" algn="l"/>
                          <a:tab pos="4754880" algn="l"/>
                          <a:tab pos="5143500" algn="l"/>
                          <a:tab pos="5326380" algn="l"/>
                          <a:tab pos="5486400" algn="l"/>
                        </a:tabLst>
                      </a:pPr>
                      <a:r>
                        <a:rPr lang="en-US" sz="1400" baseline="0">
                          <a:effectLst/>
                        </a:rPr>
                        <a:t>1</a:t>
                      </a:r>
                      <a:endParaRPr lang="en-GB" sz="1400" baseline="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l">
                        <a:spcBef>
                          <a:spcPts val="200"/>
                        </a:spcBef>
                        <a:spcAft>
                          <a:spcPts val="200"/>
                        </a:spcAft>
                        <a:tabLst>
                          <a:tab pos="-182880" algn="l"/>
                          <a:tab pos="640080" algn="l"/>
                          <a:tab pos="868680" algn="l"/>
                          <a:tab pos="1097280" algn="l"/>
                          <a:tab pos="1325880" algn="l"/>
                          <a:tab pos="1554480" algn="l"/>
                          <a:tab pos="1783080" algn="l"/>
                          <a:tab pos="2011680" algn="l"/>
                          <a:tab pos="2240280" algn="l"/>
                          <a:tab pos="2468880" algn="l"/>
                          <a:tab pos="2697480" algn="l"/>
                          <a:tab pos="2926080" algn="l"/>
                          <a:tab pos="3154680" algn="l"/>
                          <a:tab pos="3314700" algn="l"/>
                          <a:tab pos="3611880" algn="l"/>
                          <a:tab pos="3840480" algn="l"/>
                          <a:tab pos="4069080" algn="l"/>
                          <a:tab pos="4297680" algn="l"/>
                          <a:tab pos="4526280" algn="l"/>
                          <a:tab pos="4754880" algn="l"/>
                          <a:tab pos="5143500" algn="l"/>
                          <a:tab pos="5326380" algn="l"/>
                          <a:tab pos="5486400" algn="l"/>
                        </a:tabLst>
                      </a:pPr>
                      <a:r>
                        <a:rPr lang="en-US" sz="1400" baseline="0">
                          <a:effectLst/>
                        </a:rPr>
                        <a:t>Understand the basic techniques used in compiler construction such as lexical analysis, top-down, bottom-up parsing, context-sensitive analysis, and intermediate code generation</a:t>
                      </a:r>
                      <a:endParaRPr lang="en-GB" sz="1400" baseline="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l">
                        <a:spcBef>
                          <a:spcPts val="200"/>
                        </a:spcBef>
                        <a:spcAft>
                          <a:spcPts val="200"/>
                        </a:spcAft>
                        <a:tabLst>
                          <a:tab pos="-182880" algn="l"/>
                          <a:tab pos="640080" algn="l"/>
                          <a:tab pos="868680" algn="l"/>
                          <a:tab pos="1097280" algn="l"/>
                          <a:tab pos="1325880" algn="l"/>
                          <a:tab pos="1554480" algn="l"/>
                          <a:tab pos="1783080" algn="l"/>
                          <a:tab pos="2011680" algn="l"/>
                          <a:tab pos="2240280" algn="l"/>
                          <a:tab pos="2468880" algn="l"/>
                          <a:tab pos="2697480" algn="l"/>
                          <a:tab pos="2926080" algn="l"/>
                          <a:tab pos="3154680" algn="l"/>
                          <a:tab pos="3314700" algn="l"/>
                          <a:tab pos="3611880" algn="l"/>
                          <a:tab pos="3840480" algn="l"/>
                          <a:tab pos="4069080" algn="l"/>
                          <a:tab pos="4297680" algn="l"/>
                          <a:tab pos="4526280" algn="l"/>
                          <a:tab pos="4754880" algn="l"/>
                          <a:tab pos="5143500" algn="l"/>
                          <a:tab pos="5326380" algn="l"/>
                          <a:tab pos="5486400" algn="l"/>
                        </a:tabLst>
                      </a:pPr>
                      <a:r>
                        <a:rPr lang="en-US" sz="1400" baseline="0">
                          <a:effectLst/>
                        </a:rPr>
                        <a:t>C</a:t>
                      </a:r>
                      <a:endParaRPr lang="en-GB" sz="1400" baseline="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l">
                        <a:spcBef>
                          <a:spcPts val="200"/>
                        </a:spcBef>
                        <a:spcAft>
                          <a:spcPts val="200"/>
                        </a:spcAft>
                        <a:tabLst>
                          <a:tab pos="-182880" algn="l"/>
                          <a:tab pos="640080" algn="l"/>
                          <a:tab pos="868680" algn="l"/>
                          <a:tab pos="1097280" algn="l"/>
                          <a:tab pos="1325880" algn="l"/>
                          <a:tab pos="1554480" algn="l"/>
                          <a:tab pos="1783080" algn="l"/>
                          <a:tab pos="2011680" algn="l"/>
                          <a:tab pos="2240280" algn="l"/>
                          <a:tab pos="2468880" algn="l"/>
                          <a:tab pos="2697480" algn="l"/>
                          <a:tab pos="2926080" algn="l"/>
                          <a:tab pos="3154680" algn="l"/>
                          <a:tab pos="3314700" algn="l"/>
                          <a:tab pos="3611880" algn="l"/>
                          <a:tab pos="3840480" algn="l"/>
                          <a:tab pos="4069080" algn="l"/>
                          <a:tab pos="4297680" algn="l"/>
                          <a:tab pos="4526280" algn="l"/>
                          <a:tab pos="4754880" algn="l"/>
                          <a:tab pos="5143500" algn="l"/>
                          <a:tab pos="5326380" algn="l"/>
                          <a:tab pos="5486400" algn="l"/>
                        </a:tabLst>
                      </a:pPr>
                      <a:r>
                        <a:rPr lang="en-US" sz="1400" baseline="0">
                          <a:effectLst/>
                        </a:rPr>
                        <a:t>2 (Understand)</a:t>
                      </a:r>
                      <a:endParaRPr lang="en-GB" sz="1400" baseline="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1800747187"/>
                  </a:ext>
                </a:extLst>
              </a:tr>
              <a:tr h="919767">
                <a:tc>
                  <a:txBody>
                    <a:bodyPr/>
                    <a:lstStyle/>
                    <a:p>
                      <a:pPr algn="l">
                        <a:spcBef>
                          <a:spcPts val="200"/>
                        </a:spcBef>
                        <a:spcAft>
                          <a:spcPts val="200"/>
                        </a:spcAft>
                        <a:tabLst>
                          <a:tab pos="-182880" algn="l"/>
                          <a:tab pos="640080" algn="l"/>
                          <a:tab pos="868680" algn="l"/>
                          <a:tab pos="1097280" algn="l"/>
                          <a:tab pos="1325880" algn="l"/>
                          <a:tab pos="1554480" algn="l"/>
                          <a:tab pos="1783080" algn="l"/>
                          <a:tab pos="2011680" algn="l"/>
                          <a:tab pos="2240280" algn="l"/>
                          <a:tab pos="2468880" algn="l"/>
                          <a:tab pos="2697480" algn="l"/>
                          <a:tab pos="2926080" algn="l"/>
                          <a:tab pos="3154680" algn="l"/>
                          <a:tab pos="3314700" algn="l"/>
                          <a:tab pos="3611880" algn="l"/>
                          <a:tab pos="3840480" algn="l"/>
                          <a:tab pos="4069080" algn="l"/>
                          <a:tab pos="4297680" algn="l"/>
                          <a:tab pos="4526280" algn="l"/>
                          <a:tab pos="4754880" algn="l"/>
                          <a:tab pos="5143500" algn="l"/>
                          <a:tab pos="5326380" algn="l"/>
                          <a:tab pos="5486400" algn="l"/>
                        </a:tabLst>
                      </a:pPr>
                      <a:r>
                        <a:rPr lang="en-US" sz="1400" baseline="0">
                          <a:effectLst/>
                        </a:rPr>
                        <a:t>2</a:t>
                      </a:r>
                      <a:endParaRPr lang="en-GB" sz="1400" baseline="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l">
                        <a:spcBef>
                          <a:spcPts val="200"/>
                        </a:spcBef>
                        <a:spcAft>
                          <a:spcPts val="200"/>
                        </a:spcAft>
                        <a:tabLst>
                          <a:tab pos="-182880" algn="l"/>
                          <a:tab pos="640080" algn="l"/>
                          <a:tab pos="868680" algn="l"/>
                          <a:tab pos="1097280" algn="l"/>
                          <a:tab pos="1325880" algn="l"/>
                          <a:tab pos="1554480" algn="l"/>
                          <a:tab pos="1783080" algn="l"/>
                          <a:tab pos="2011680" algn="l"/>
                          <a:tab pos="2240280" algn="l"/>
                          <a:tab pos="2468880" algn="l"/>
                          <a:tab pos="2697480" algn="l"/>
                          <a:tab pos="2926080" algn="l"/>
                          <a:tab pos="3154680" algn="l"/>
                          <a:tab pos="3314700" algn="l"/>
                          <a:tab pos="3611880" algn="l"/>
                          <a:tab pos="3840480" algn="l"/>
                          <a:tab pos="4069080" algn="l"/>
                          <a:tab pos="4297680" algn="l"/>
                          <a:tab pos="4526280" algn="l"/>
                          <a:tab pos="4754880" algn="l"/>
                          <a:tab pos="5143500" algn="l"/>
                          <a:tab pos="5326380" algn="l"/>
                          <a:tab pos="5486400" algn="l"/>
                        </a:tabLst>
                      </a:pPr>
                      <a:r>
                        <a:rPr lang="en-US" sz="1400" baseline="0">
                          <a:effectLst/>
                        </a:rPr>
                        <a:t>Understand the basic data structures used in compiler construction such as abstract syntax trees, symbol tables, three-address code, and stack machines</a:t>
                      </a:r>
                      <a:endParaRPr lang="en-GB" sz="1400" baseline="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l">
                        <a:spcBef>
                          <a:spcPts val="200"/>
                        </a:spcBef>
                        <a:spcAft>
                          <a:spcPts val="200"/>
                        </a:spcAft>
                        <a:tabLst>
                          <a:tab pos="-182880" algn="l"/>
                          <a:tab pos="640080" algn="l"/>
                          <a:tab pos="868680" algn="l"/>
                          <a:tab pos="1097280" algn="l"/>
                          <a:tab pos="1325880" algn="l"/>
                          <a:tab pos="1554480" algn="l"/>
                          <a:tab pos="1783080" algn="l"/>
                          <a:tab pos="2011680" algn="l"/>
                          <a:tab pos="2240280" algn="l"/>
                          <a:tab pos="2468880" algn="l"/>
                          <a:tab pos="2697480" algn="l"/>
                          <a:tab pos="2926080" algn="l"/>
                          <a:tab pos="3154680" algn="l"/>
                          <a:tab pos="3314700" algn="l"/>
                          <a:tab pos="3611880" algn="l"/>
                          <a:tab pos="3840480" algn="l"/>
                          <a:tab pos="4069080" algn="l"/>
                          <a:tab pos="4297680" algn="l"/>
                          <a:tab pos="4526280" algn="l"/>
                          <a:tab pos="4754880" algn="l"/>
                          <a:tab pos="5143500" algn="l"/>
                          <a:tab pos="5326380" algn="l"/>
                          <a:tab pos="5486400" algn="l"/>
                        </a:tabLst>
                      </a:pPr>
                      <a:r>
                        <a:rPr lang="en-US" sz="1400" baseline="0">
                          <a:effectLst/>
                        </a:rPr>
                        <a:t>C</a:t>
                      </a:r>
                      <a:endParaRPr lang="en-GB" sz="1400" baseline="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l">
                        <a:spcBef>
                          <a:spcPts val="200"/>
                        </a:spcBef>
                        <a:spcAft>
                          <a:spcPts val="200"/>
                        </a:spcAft>
                        <a:tabLst>
                          <a:tab pos="-182880" algn="l"/>
                          <a:tab pos="640080" algn="l"/>
                          <a:tab pos="868680" algn="l"/>
                          <a:tab pos="1097280" algn="l"/>
                          <a:tab pos="1325880" algn="l"/>
                          <a:tab pos="1554480" algn="l"/>
                          <a:tab pos="1783080" algn="l"/>
                          <a:tab pos="2011680" algn="l"/>
                          <a:tab pos="2240280" algn="l"/>
                          <a:tab pos="2468880" algn="l"/>
                          <a:tab pos="2697480" algn="l"/>
                          <a:tab pos="2926080" algn="l"/>
                          <a:tab pos="3154680" algn="l"/>
                          <a:tab pos="3314700" algn="l"/>
                          <a:tab pos="3611880" algn="l"/>
                          <a:tab pos="3840480" algn="l"/>
                          <a:tab pos="4069080" algn="l"/>
                          <a:tab pos="4297680" algn="l"/>
                          <a:tab pos="4526280" algn="l"/>
                          <a:tab pos="4754880" algn="l"/>
                          <a:tab pos="5143500" algn="l"/>
                          <a:tab pos="5326380" algn="l"/>
                          <a:tab pos="5486400" algn="l"/>
                        </a:tabLst>
                      </a:pPr>
                      <a:r>
                        <a:rPr lang="en-US" sz="1400" baseline="0">
                          <a:effectLst/>
                        </a:rPr>
                        <a:t>2 (Understand)</a:t>
                      </a:r>
                      <a:endParaRPr lang="en-GB" sz="1400" baseline="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879954074"/>
                  </a:ext>
                </a:extLst>
              </a:tr>
              <a:tr h="613178">
                <a:tc>
                  <a:txBody>
                    <a:bodyPr/>
                    <a:lstStyle/>
                    <a:p>
                      <a:pPr algn="l">
                        <a:spcBef>
                          <a:spcPts val="200"/>
                        </a:spcBef>
                        <a:spcAft>
                          <a:spcPts val="200"/>
                        </a:spcAft>
                        <a:tabLst>
                          <a:tab pos="-182880" algn="l"/>
                          <a:tab pos="640080" algn="l"/>
                          <a:tab pos="868680" algn="l"/>
                          <a:tab pos="1097280" algn="l"/>
                          <a:tab pos="1325880" algn="l"/>
                          <a:tab pos="1554480" algn="l"/>
                          <a:tab pos="1783080" algn="l"/>
                          <a:tab pos="2011680" algn="l"/>
                          <a:tab pos="2240280" algn="l"/>
                          <a:tab pos="2468880" algn="l"/>
                          <a:tab pos="2697480" algn="l"/>
                          <a:tab pos="2926080" algn="l"/>
                          <a:tab pos="3154680" algn="l"/>
                          <a:tab pos="3314700" algn="l"/>
                          <a:tab pos="3611880" algn="l"/>
                          <a:tab pos="3840480" algn="l"/>
                          <a:tab pos="4069080" algn="l"/>
                          <a:tab pos="4297680" algn="l"/>
                          <a:tab pos="4526280" algn="l"/>
                          <a:tab pos="4754880" algn="l"/>
                          <a:tab pos="5143500" algn="l"/>
                          <a:tab pos="5326380" algn="l"/>
                          <a:tab pos="5486400" algn="l"/>
                        </a:tabLst>
                      </a:pPr>
                      <a:r>
                        <a:rPr lang="en-US" sz="1400" baseline="0">
                          <a:effectLst/>
                        </a:rPr>
                        <a:t>3</a:t>
                      </a:r>
                      <a:endParaRPr lang="en-GB" sz="1400" baseline="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l">
                        <a:spcBef>
                          <a:spcPts val="200"/>
                        </a:spcBef>
                        <a:spcAft>
                          <a:spcPts val="200"/>
                        </a:spcAft>
                        <a:tabLst>
                          <a:tab pos="-182880" algn="l"/>
                          <a:tab pos="640080" algn="l"/>
                          <a:tab pos="868680" algn="l"/>
                          <a:tab pos="1097280" algn="l"/>
                          <a:tab pos="1325880" algn="l"/>
                          <a:tab pos="1554480" algn="l"/>
                          <a:tab pos="1783080" algn="l"/>
                          <a:tab pos="2011680" algn="l"/>
                          <a:tab pos="2240280" algn="l"/>
                          <a:tab pos="2468880" algn="l"/>
                          <a:tab pos="2697480" algn="l"/>
                          <a:tab pos="2926080" algn="l"/>
                          <a:tab pos="3154680" algn="l"/>
                          <a:tab pos="3314700" algn="l"/>
                          <a:tab pos="3611880" algn="l"/>
                          <a:tab pos="3840480" algn="l"/>
                          <a:tab pos="4069080" algn="l"/>
                          <a:tab pos="4297680" algn="l"/>
                          <a:tab pos="4526280" algn="l"/>
                          <a:tab pos="4754880" algn="l"/>
                          <a:tab pos="5143500" algn="l"/>
                          <a:tab pos="5326380" algn="l"/>
                          <a:tab pos="5486400" algn="l"/>
                        </a:tabLst>
                      </a:pPr>
                      <a:r>
                        <a:rPr lang="en-US" sz="1400" baseline="0">
                          <a:effectLst/>
                        </a:rPr>
                        <a:t>Design and implement a compiler using a software engineering approach. </a:t>
                      </a:r>
                      <a:endParaRPr lang="en-GB" sz="1400" baseline="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l">
                        <a:spcBef>
                          <a:spcPts val="200"/>
                        </a:spcBef>
                        <a:spcAft>
                          <a:spcPts val="200"/>
                        </a:spcAft>
                        <a:tabLst>
                          <a:tab pos="-182880" algn="l"/>
                          <a:tab pos="640080" algn="l"/>
                          <a:tab pos="868680" algn="l"/>
                          <a:tab pos="1097280" algn="l"/>
                          <a:tab pos="1325880" algn="l"/>
                          <a:tab pos="1554480" algn="l"/>
                          <a:tab pos="1783080" algn="l"/>
                          <a:tab pos="2011680" algn="l"/>
                          <a:tab pos="2240280" algn="l"/>
                          <a:tab pos="2468880" algn="l"/>
                          <a:tab pos="2697480" algn="l"/>
                          <a:tab pos="2926080" algn="l"/>
                          <a:tab pos="3154680" algn="l"/>
                          <a:tab pos="3314700" algn="l"/>
                          <a:tab pos="3611880" algn="l"/>
                          <a:tab pos="3840480" algn="l"/>
                          <a:tab pos="4069080" algn="l"/>
                          <a:tab pos="4297680" algn="l"/>
                          <a:tab pos="4526280" algn="l"/>
                          <a:tab pos="4754880" algn="l"/>
                          <a:tab pos="5143500" algn="l"/>
                          <a:tab pos="5326380" algn="l"/>
                          <a:tab pos="5486400" algn="l"/>
                        </a:tabLst>
                      </a:pPr>
                      <a:r>
                        <a:rPr lang="en-US" sz="1400" baseline="0">
                          <a:effectLst/>
                        </a:rPr>
                        <a:t>C</a:t>
                      </a:r>
                      <a:endParaRPr lang="en-GB" sz="1400" baseline="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l">
                        <a:spcBef>
                          <a:spcPts val="200"/>
                        </a:spcBef>
                        <a:spcAft>
                          <a:spcPts val="200"/>
                        </a:spcAft>
                        <a:tabLst>
                          <a:tab pos="-182880" algn="l"/>
                          <a:tab pos="640080" algn="l"/>
                          <a:tab pos="868680" algn="l"/>
                          <a:tab pos="1097280" algn="l"/>
                          <a:tab pos="1325880" algn="l"/>
                          <a:tab pos="1554480" algn="l"/>
                          <a:tab pos="1783080" algn="l"/>
                          <a:tab pos="2011680" algn="l"/>
                          <a:tab pos="2240280" algn="l"/>
                          <a:tab pos="2468880" algn="l"/>
                          <a:tab pos="2697480" algn="l"/>
                          <a:tab pos="2926080" algn="l"/>
                          <a:tab pos="3154680" algn="l"/>
                          <a:tab pos="3314700" algn="l"/>
                          <a:tab pos="3611880" algn="l"/>
                          <a:tab pos="3840480" algn="l"/>
                          <a:tab pos="4069080" algn="l"/>
                          <a:tab pos="4297680" algn="l"/>
                          <a:tab pos="4526280" algn="l"/>
                          <a:tab pos="4754880" algn="l"/>
                          <a:tab pos="5143500" algn="l"/>
                          <a:tab pos="5326380" algn="l"/>
                          <a:tab pos="5486400" algn="l"/>
                        </a:tabLst>
                      </a:pPr>
                      <a:r>
                        <a:rPr lang="en-US" sz="1400" baseline="0">
                          <a:effectLst/>
                        </a:rPr>
                        <a:t>3 (Apply)</a:t>
                      </a:r>
                      <a:endParaRPr lang="en-GB" sz="1400" baseline="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701491942"/>
                  </a:ext>
                </a:extLst>
              </a:tr>
              <a:tr h="715375">
                <a:tc>
                  <a:txBody>
                    <a:bodyPr/>
                    <a:lstStyle/>
                    <a:p>
                      <a:pPr algn="l">
                        <a:spcBef>
                          <a:spcPts val="200"/>
                        </a:spcBef>
                        <a:spcAft>
                          <a:spcPts val="200"/>
                        </a:spcAft>
                        <a:tabLst>
                          <a:tab pos="-182880" algn="l"/>
                          <a:tab pos="640080" algn="l"/>
                          <a:tab pos="868680" algn="l"/>
                          <a:tab pos="1097280" algn="l"/>
                          <a:tab pos="1325880" algn="l"/>
                          <a:tab pos="1554480" algn="l"/>
                          <a:tab pos="1783080" algn="l"/>
                          <a:tab pos="2011680" algn="l"/>
                          <a:tab pos="2240280" algn="l"/>
                          <a:tab pos="2468880" algn="l"/>
                          <a:tab pos="2697480" algn="l"/>
                          <a:tab pos="2926080" algn="l"/>
                          <a:tab pos="3154680" algn="l"/>
                          <a:tab pos="3314700" algn="l"/>
                          <a:tab pos="3611880" algn="l"/>
                          <a:tab pos="3840480" algn="l"/>
                          <a:tab pos="4069080" algn="l"/>
                          <a:tab pos="4297680" algn="l"/>
                          <a:tab pos="4526280" algn="l"/>
                          <a:tab pos="4754880" algn="l"/>
                          <a:tab pos="5143500" algn="l"/>
                          <a:tab pos="5326380" algn="l"/>
                          <a:tab pos="5486400" algn="l"/>
                        </a:tabLst>
                      </a:pPr>
                      <a:r>
                        <a:rPr lang="en-US" sz="1400" baseline="0">
                          <a:effectLst/>
                        </a:rPr>
                        <a:t>4</a:t>
                      </a:r>
                      <a:endParaRPr lang="en-GB" sz="1400" baseline="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l">
                        <a:spcBef>
                          <a:spcPts val="200"/>
                        </a:spcBef>
                        <a:spcAft>
                          <a:spcPts val="200"/>
                        </a:spcAft>
                        <a:tabLst>
                          <a:tab pos="-182880" algn="l"/>
                          <a:tab pos="640080" algn="l"/>
                          <a:tab pos="868680" algn="l"/>
                          <a:tab pos="1097280" algn="l"/>
                          <a:tab pos="1325880" algn="l"/>
                          <a:tab pos="1554480" algn="l"/>
                          <a:tab pos="1783080" algn="l"/>
                          <a:tab pos="2011680" algn="l"/>
                          <a:tab pos="2240280" algn="l"/>
                          <a:tab pos="2468880" algn="l"/>
                          <a:tab pos="2697480" algn="l"/>
                          <a:tab pos="2926080" algn="l"/>
                          <a:tab pos="3154680" algn="l"/>
                          <a:tab pos="3314700" algn="l"/>
                          <a:tab pos="3611880" algn="l"/>
                          <a:tab pos="3840480" algn="l"/>
                          <a:tab pos="4069080" algn="l"/>
                          <a:tab pos="4297680" algn="l"/>
                          <a:tab pos="4526280" algn="l"/>
                          <a:tab pos="4754880" algn="l"/>
                          <a:tab pos="5143500" algn="l"/>
                          <a:tab pos="5326380" algn="l"/>
                          <a:tab pos="5486400" algn="l"/>
                        </a:tabLst>
                      </a:pPr>
                      <a:r>
                        <a:rPr lang="en-US" sz="1400" baseline="0">
                          <a:effectLst/>
                        </a:rPr>
                        <a:t>Use generators (e.g. Lex and Yacc)</a:t>
                      </a:r>
                      <a:endParaRPr lang="en-GB" sz="1400" baseline="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l">
                        <a:spcBef>
                          <a:spcPts val="200"/>
                        </a:spcBef>
                        <a:spcAft>
                          <a:spcPts val="200"/>
                        </a:spcAft>
                        <a:tabLst>
                          <a:tab pos="-182880" algn="l"/>
                          <a:tab pos="640080" algn="l"/>
                          <a:tab pos="868680" algn="l"/>
                          <a:tab pos="1097280" algn="l"/>
                          <a:tab pos="1325880" algn="l"/>
                          <a:tab pos="1554480" algn="l"/>
                          <a:tab pos="1783080" algn="l"/>
                          <a:tab pos="2011680" algn="l"/>
                          <a:tab pos="2240280" algn="l"/>
                          <a:tab pos="2468880" algn="l"/>
                          <a:tab pos="2697480" algn="l"/>
                          <a:tab pos="2926080" algn="l"/>
                          <a:tab pos="3154680" algn="l"/>
                          <a:tab pos="3314700" algn="l"/>
                          <a:tab pos="3611880" algn="l"/>
                          <a:tab pos="3840480" algn="l"/>
                          <a:tab pos="4069080" algn="l"/>
                          <a:tab pos="4297680" algn="l"/>
                          <a:tab pos="4526280" algn="l"/>
                          <a:tab pos="4754880" algn="l"/>
                          <a:tab pos="5143500" algn="l"/>
                          <a:tab pos="5326380" algn="l"/>
                          <a:tab pos="5486400" algn="l"/>
                        </a:tabLst>
                      </a:pPr>
                      <a:r>
                        <a:rPr lang="en-US" sz="1400" baseline="0">
                          <a:effectLst/>
                        </a:rPr>
                        <a:t>C</a:t>
                      </a:r>
                      <a:endParaRPr lang="en-GB" sz="1400" baseline="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l">
                        <a:spcBef>
                          <a:spcPts val="200"/>
                        </a:spcBef>
                        <a:spcAft>
                          <a:spcPts val="200"/>
                        </a:spcAft>
                        <a:tabLst>
                          <a:tab pos="-182880" algn="l"/>
                          <a:tab pos="640080" algn="l"/>
                          <a:tab pos="868680" algn="l"/>
                          <a:tab pos="1097280" algn="l"/>
                          <a:tab pos="1325880" algn="l"/>
                          <a:tab pos="1554480" algn="l"/>
                          <a:tab pos="1783080" algn="l"/>
                          <a:tab pos="2011680" algn="l"/>
                          <a:tab pos="2240280" algn="l"/>
                          <a:tab pos="2468880" algn="l"/>
                          <a:tab pos="2697480" algn="l"/>
                          <a:tab pos="2926080" algn="l"/>
                          <a:tab pos="3154680" algn="l"/>
                          <a:tab pos="3314700" algn="l"/>
                          <a:tab pos="3611880" algn="l"/>
                          <a:tab pos="3840480" algn="l"/>
                          <a:tab pos="4069080" algn="l"/>
                          <a:tab pos="4297680" algn="l"/>
                          <a:tab pos="4526280" algn="l"/>
                          <a:tab pos="4754880" algn="l"/>
                          <a:tab pos="5143500" algn="l"/>
                          <a:tab pos="5326380" algn="l"/>
                          <a:tab pos="5486400" algn="l"/>
                        </a:tabLst>
                      </a:pPr>
                      <a:r>
                        <a:rPr lang="en-US" sz="1400" baseline="0" dirty="0">
                          <a:effectLst/>
                        </a:rPr>
                        <a:t>3 (Apply)</a:t>
                      </a:r>
                      <a:endParaRPr lang="en-GB" sz="1400" baseline="0" dirty="0">
                        <a:effectLst/>
                      </a:endParaRPr>
                    </a:p>
                    <a:p>
                      <a:pPr algn="l">
                        <a:spcBef>
                          <a:spcPts val="200"/>
                        </a:spcBef>
                        <a:spcAft>
                          <a:spcPts val="200"/>
                        </a:spcAft>
                        <a:tabLst>
                          <a:tab pos="-182880" algn="l"/>
                          <a:tab pos="640080" algn="l"/>
                          <a:tab pos="868680" algn="l"/>
                          <a:tab pos="1097280" algn="l"/>
                          <a:tab pos="1325880" algn="l"/>
                          <a:tab pos="1554480" algn="l"/>
                          <a:tab pos="1783080" algn="l"/>
                          <a:tab pos="2011680" algn="l"/>
                          <a:tab pos="2240280" algn="l"/>
                          <a:tab pos="2468880" algn="l"/>
                          <a:tab pos="2697480" algn="l"/>
                          <a:tab pos="2926080" algn="l"/>
                          <a:tab pos="3154680" algn="l"/>
                          <a:tab pos="3314700" algn="l"/>
                          <a:tab pos="3611880" algn="l"/>
                          <a:tab pos="3840480" algn="l"/>
                          <a:tab pos="4069080" algn="l"/>
                          <a:tab pos="4297680" algn="l"/>
                          <a:tab pos="4526280" algn="l"/>
                          <a:tab pos="4754880" algn="l"/>
                          <a:tab pos="5143500" algn="l"/>
                          <a:tab pos="5326380" algn="l"/>
                          <a:tab pos="5486400" algn="l"/>
                        </a:tabLst>
                      </a:pPr>
                      <a:r>
                        <a:rPr lang="en-US" sz="1400" baseline="0" dirty="0">
                          <a:effectLst/>
                        </a:rPr>
                        <a:t> </a:t>
                      </a:r>
                      <a:endParaRPr lang="en-GB" sz="1400" baseline="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591715570"/>
                  </a:ext>
                </a:extLst>
              </a:tr>
            </a:tbl>
          </a:graphicData>
        </a:graphic>
      </p:graphicFrame>
    </p:spTree>
    <p:extLst>
      <p:ext uri="{BB962C8B-B14F-4D97-AF65-F5344CB8AC3E}">
        <p14:creationId xmlns:p14="http://schemas.microsoft.com/office/powerpoint/2010/main" val="7068395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Teaching Methodology:</a:t>
            </a:r>
            <a:br>
              <a:rPr lang="en-GB" b="1" dirty="0" smtClean="0"/>
            </a:br>
            <a:endParaRPr lang="en-GB" dirty="0"/>
          </a:p>
        </p:txBody>
      </p:sp>
      <p:sp>
        <p:nvSpPr>
          <p:cNvPr id="3" name="Content Placeholder 2"/>
          <p:cNvSpPr>
            <a:spLocks noGrp="1"/>
          </p:cNvSpPr>
          <p:nvPr>
            <p:ph idx="1"/>
          </p:nvPr>
        </p:nvSpPr>
        <p:spPr/>
        <p:txBody>
          <a:bodyPr/>
          <a:lstStyle/>
          <a:p>
            <a:r>
              <a:rPr lang="en-GB" dirty="0" smtClean="0"/>
              <a:t>Lectures</a:t>
            </a:r>
            <a:r>
              <a:rPr lang="en-GB" dirty="0"/>
              <a:t>, Written Assignments, Semester </a:t>
            </a:r>
            <a:r>
              <a:rPr lang="en-GB" dirty="0" smtClean="0"/>
              <a:t>Project, Presentations</a:t>
            </a:r>
          </a:p>
          <a:p>
            <a:endParaRPr lang="en-GB" dirty="0"/>
          </a:p>
          <a:p>
            <a:r>
              <a:rPr lang="en-GB" b="1" dirty="0"/>
              <a:t>Course Assessment:</a:t>
            </a:r>
          </a:p>
          <a:p>
            <a:r>
              <a:rPr lang="en-GB" dirty="0" smtClean="0"/>
              <a:t> </a:t>
            </a:r>
            <a:r>
              <a:rPr lang="en-GB" dirty="0"/>
              <a:t>Quizzes, Assignments, Mid </a:t>
            </a:r>
            <a:r>
              <a:rPr lang="en-GB" dirty="0" smtClean="0"/>
              <a:t>Exams, </a:t>
            </a:r>
            <a:r>
              <a:rPr lang="en-GB" dirty="0"/>
              <a:t>Project, Presentations, </a:t>
            </a:r>
            <a:r>
              <a:rPr lang="en-GB" dirty="0" smtClean="0"/>
              <a:t>Final Exam </a:t>
            </a:r>
            <a:br>
              <a:rPr lang="en-GB" dirty="0" smtClean="0"/>
            </a:br>
            <a:endParaRPr lang="en-GB" dirty="0"/>
          </a:p>
        </p:txBody>
      </p:sp>
    </p:spTree>
    <p:extLst>
      <p:ext uri="{BB962C8B-B14F-4D97-AF65-F5344CB8AC3E}">
        <p14:creationId xmlns:p14="http://schemas.microsoft.com/office/powerpoint/2010/main" val="19022551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Recommended &amp; Reference Books</a:t>
            </a:r>
            <a:r>
              <a:rPr lang="en-GB" dirty="0" smtClean="0"/>
              <a:t> </a:t>
            </a:r>
            <a:endParaRPr lang="en-GB" dirty="0"/>
          </a:p>
        </p:txBody>
      </p:sp>
      <p:sp>
        <p:nvSpPr>
          <p:cNvPr id="3" name="Content Placeholder 2"/>
          <p:cNvSpPr>
            <a:spLocks noGrp="1"/>
          </p:cNvSpPr>
          <p:nvPr>
            <p:ph idx="1"/>
          </p:nvPr>
        </p:nvSpPr>
        <p:spPr/>
        <p:txBody>
          <a:bodyPr>
            <a:normAutofit/>
          </a:bodyPr>
          <a:lstStyle/>
          <a:p>
            <a:pPr lvl="0"/>
            <a:r>
              <a:rPr lang="en-US" b="1" dirty="0" smtClean="0"/>
              <a:t>Text Book</a:t>
            </a:r>
          </a:p>
          <a:p>
            <a:pPr lvl="1"/>
            <a:r>
              <a:rPr lang="en-GB" dirty="0"/>
              <a:t>Compilers: Principles, Techniques, and Tools 2nd Edition</a:t>
            </a:r>
            <a:br>
              <a:rPr lang="en-GB" dirty="0"/>
            </a:br>
            <a:r>
              <a:rPr lang="en-GB" dirty="0"/>
              <a:t> by Alfred </a:t>
            </a:r>
            <a:r>
              <a:rPr lang="en-GB" dirty="0" err="1"/>
              <a:t>Aho</a:t>
            </a:r>
            <a:r>
              <a:rPr lang="en-GB" dirty="0"/>
              <a:t> , Jeffrey Ullman, Ravi </a:t>
            </a:r>
            <a:r>
              <a:rPr lang="en-GB" dirty="0" err="1"/>
              <a:t>Sethi</a:t>
            </a:r>
            <a:r>
              <a:rPr lang="en-GB" dirty="0"/>
              <a:t>, Monica </a:t>
            </a:r>
            <a:r>
              <a:rPr lang="en-GB" dirty="0" smtClean="0"/>
              <a:t>Lam</a:t>
            </a:r>
            <a:endParaRPr lang="en-US" dirty="0" smtClean="0"/>
          </a:p>
          <a:p>
            <a:pPr lvl="1"/>
            <a:endParaRPr lang="en-US" dirty="0" smtClean="0"/>
          </a:p>
          <a:p>
            <a:pPr lvl="0"/>
            <a:r>
              <a:rPr lang="en-GB" b="1" dirty="0" smtClean="0"/>
              <a:t>Reference Book</a:t>
            </a:r>
            <a:endParaRPr lang="en-GB" b="1" dirty="0"/>
          </a:p>
          <a:p>
            <a:pPr lvl="1"/>
            <a:r>
              <a:rPr lang="en-US" sz="2800" dirty="0"/>
              <a:t> </a:t>
            </a:r>
            <a:r>
              <a:rPr lang="en-GB" dirty="0"/>
              <a:t>Introduction to </a:t>
            </a:r>
            <a:r>
              <a:rPr lang="en-GB" dirty="0" smtClean="0"/>
              <a:t>Compilers and </a:t>
            </a:r>
            <a:r>
              <a:rPr lang="en-GB" dirty="0"/>
              <a:t>Language </a:t>
            </a:r>
            <a:r>
              <a:rPr lang="en-GB" dirty="0" smtClean="0"/>
              <a:t>Design - </a:t>
            </a:r>
            <a:r>
              <a:rPr lang="en-GB" dirty="0" err="1" smtClean="0"/>
              <a:t>Prof</a:t>
            </a:r>
            <a:r>
              <a:rPr lang="en-GB" dirty="0" err="1"/>
              <a:t>.</a:t>
            </a:r>
            <a:r>
              <a:rPr lang="en-GB" dirty="0"/>
              <a:t> Douglas </a:t>
            </a:r>
            <a:r>
              <a:rPr lang="en-GB" dirty="0" err="1" smtClean="0"/>
              <a:t>Thain</a:t>
            </a:r>
            <a:r>
              <a:rPr lang="en-GB" dirty="0" smtClean="0"/>
              <a:t> University </a:t>
            </a:r>
            <a:r>
              <a:rPr lang="en-GB" dirty="0"/>
              <a:t>of Notre </a:t>
            </a:r>
            <a:r>
              <a:rPr lang="en-GB" dirty="0" smtClean="0"/>
              <a:t>Dame – 2</a:t>
            </a:r>
            <a:r>
              <a:rPr lang="en-GB" baseline="30000" dirty="0" smtClean="0"/>
              <a:t>nd</a:t>
            </a:r>
            <a:r>
              <a:rPr lang="en-GB" dirty="0" smtClean="0"/>
              <a:t> Edition </a:t>
            </a:r>
          </a:p>
          <a:p>
            <a:pPr lvl="1"/>
            <a:r>
              <a:rPr lang="en-GB" dirty="0" smtClean="0"/>
              <a:t>Crafting a Compiler – Charles N-Fischer, Richard</a:t>
            </a:r>
            <a:endParaRPr lang="en-US" dirty="0" smtClean="0"/>
          </a:p>
          <a:p>
            <a:pPr lvl="1"/>
            <a:r>
              <a:rPr lang="en-US" dirty="0" smtClean="0"/>
              <a:t>Principles </a:t>
            </a:r>
            <a:r>
              <a:rPr lang="en-US" dirty="0"/>
              <a:t>of Compiler Design, 3</a:t>
            </a:r>
            <a:r>
              <a:rPr lang="en-US" baseline="30000" dirty="0"/>
              <a:t>rd</a:t>
            </a:r>
            <a:r>
              <a:rPr lang="en-US" dirty="0"/>
              <a:t> Edition by </a:t>
            </a:r>
            <a:r>
              <a:rPr lang="en-US" dirty="0" err="1"/>
              <a:t>Nandini</a:t>
            </a:r>
            <a:r>
              <a:rPr lang="en-US" dirty="0"/>
              <a:t> Prasad K.S Elsevier </a:t>
            </a:r>
            <a:endParaRPr lang="en-US" dirty="0" smtClean="0"/>
          </a:p>
          <a:p>
            <a:pPr lvl="0"/>
            <a:endParaRPr lang="en-GB" dirty="0"/>
          </a:p>
          <a:p>
            <a:endParaRPr lang="en-GB" dirty="0"/>
          </a:p>
        </p:txBody>
      </p:sp>
    </p:spTree>
    <p:extLst>
      <p:ext uri="{BB962C8B-B14F-4D97-AF65-F5344CB8AC3E}">
        <p14:creationId xmlns:p14="http://schemas.microsoft.com/office/powerpoint/2010/main" val="26337505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Assessment Details	</a:t>
            </a:r>
            <a:endParaRPr lang="en-GB" b="1" dirty="0"/>
          </a:p>
        </p:txBody>
      </p:sp>
      <p:sp>
        <p:nvSpPr>
          <p:cNvPr id="3" name="Content Placeholder 2"/>
          <p:cNvSpPr>
            <a:spLocks noGrp="1"/>
          </p:cNvSpPr>
          <p:nvPr>
            <p:ph idx="1"/>
          </p:nvPr>
        </p:nvSpPr>
        <p:spPr/>
        <p:txBody>
          <a:bodyPr>
            <a:normAutofit lnSpcReduction="10000"/>
          </a:bodyPr>
          <a:lstStyle/>
          <a:p>
            <a:pPr marL="0" indent="0">
              <a:buNone/>
            </a:pPr>
            <a:r>
              <a:rPr lang="en-GB" dirty="0" smtClean="0"/>
              <a:t>Project:  (10 Marks)</a:t>
            </a:r>
            <a:br>
              <a:rPr lang="en-GB" dirty="0" smtClean="0"/>
            </a:br>
            <a:r>
              <a:rPr lang="en-GB" dirty="0" smtClean="0"/>
              <a:t> 	It will be Design (Presented on Charts-</a:t>
            </a:r>
            <a:r>
              <a:rPr lang="en-GB" dirty="0" err="1" smtClean="0"/>
              <a:t>Atleast</a:t>
            </a:r>
            <a:r>
              <a:rPr lang="en-GB" dirty="0" smtClean="0"/>
              <a:t> 5) + Code</a:t>
            </a:r>
          </a:p>
          <a:p>
            <a:pPr marL="0" indent="0">
              <a:buNone/>
            </a:pPr>
            <a:r>
              <a:rPr lang="en-GB" dirty="0" smtClean="0"/>
              <a:t>Assignments (5 Marks)</a:t>
            </a:r>
            <a:br>
              <a:rPr lang="en-GB" dirty="0" smtClean="0"/>
            </a:br>
            <a:r>
              <a:rPr lang="en-GB" dirty="0" smtClean="0"/>
              <a:t>	5 Assignments (Best 3)</a:t>
            </a:r>
            <a:br>
              <a:rPr lang="en-GB" dirty="0" smtClean="0"/>
            </a:br>
            <a:r>
              <a:rPr lang="en-GB" dirty="0" smtClean="0"/>
              <a:t>	Assignments will be Paper/Chart Work</a:t>
            </a:r>
          </a:p>
          <a:p>
            <a:pPr marL="0" indent="0">
              <a:buNone/>
            </a:pPr>
            <a:r>
              <a:rPr lang="en-GB" dirty="0" smtClean="0"/>
              <a:t>Quizzes: (5 Marks)</a:t>
            </a:r>
          </a:p>
          <a:p>
            <a:pPr marL="0" indent="0">
              <a:buNone/>
            </a:pPr>
            <a:r>
              <a:rPr lang="en-GB" dirty="0"/>
              <a:t>	</a:t>
            </a:r>
            <a:r>
              <a:rPr lang="en-GB" dirty="0" smtClean="0"/>
              <a:t>5 Quizzes (Best 3)</a:t>
            </a:r>
            <a:br>
              <a:rPr lang="en-GB" dirty="0" smtClean="0"/>
            </a:br>
            <a:r>
              <a:rPr lang="en-GB" dirty="0" smtClean="0"/>
              <a:t>	Design , Conceptual, Logical and Numerical Type</a:t>
            </a:r>
            <a:r>
              <a:rPr lang="en-GB" dirty="0"/>
              <a:t>	</a:t>
            </a:r>
            <a:endParaRPr lang="en-GB" dirty="0" smtClean="0"/>
          </a:p>
          <a:p>
            <a:pPr marL="0" indent="0">
              <a:buNone/>
            </a:pPr>
            <a:r>
              <a:rPr lang="en-GB" dirty="0" smtClean="0"/>
              <a:t>Mid Exams (30 Marks)</a:t>
            </a:r>
          </a:p>
          <a:p>
            <a:pPr marL="0" indent="0">
              <a:buNone/>
            </a:pPr>
            <a:r>
              <a:rPr lang="en-GB" dirty="0" smtClean="0"/>
              <a:t>Final Exam (50 Marks)</a:t>
            </a:r>
            <a:endParaRPr lang="en-GB" dirty="0"/>
          </a:p>
        </p:txBody>
      </p:sp>
    </p:spTree>
    <p:extLst>
      <p:ext uri="{BB962C8B-B14F-4D97-AF65-F5344CB8AC3E}">
        <p14:creationId xmlns:p14="http://schemas.microsoft.com/office/powerpoint/2010/main" val="9923687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Week 1:</a:t>
            </a:r>
            <a:endParaRPr lang="en-GB" b="1" dirty="0"/>
          </a:p>
        </p:txBody>
      </p:sp>
      <p:sp>
        <p:nvSpPr>
          <p:cNvPr id="3" name="Content Placeholder 2"/>
          <p:cNvSpPr>
            <a:spLocks noGrp="1"/>
          </p:cNvSpPr>
          <p:nvPr>
            <p:ph idx="1"/>
          </p:nvPr>
        </p:nvSpPr>
        <p:spPr/>
        <p:txBody>
          <a:bodyPr/>
          <a:lstStyle/>
          <a:p>
            <a:r>
              <a:rPr lang="en-GB" dirty="0" smtClean="0"/>
              <a:t>Course Introduction</a:t>
            </a:r>
          </a:p>
          <a:p>
            <a:r>
              <a:rPr lang="en-GB" dirty="0" smtClean="0"/>
              <a:t>Language Processors</a:t>
            </a:r>
          </a:p>
          <a:p>
            <a:r>
              <a:rPr lang="en-GB" dirty="0" smtClean="0"/>
              <a:t>Compiler Vs Interpreters</a:t>
            </a:r>
          </a:p>
          <a:p>
            <a:r>
              <a:rPr lang="en-GB" dirty="0" smtClean="0"/>
              <a:t>Structure of </a:t>
            </a:r>
            <a:r>
              <a:rPr lang="en-GB" dirty="0" smtClean="0"/>
              <a:t>Compilers</a:t>
            </a:r>
          </a:p>
          <a:p>
            <a:r>
              <a:rPr lang="en-GB" dirty="0" smtClean="0"/>
              <a:t>Types of Compilers</a:t>
            </a:r>
            <a:endParaRPr lang="en-GB" dirty="0" smtClean="0"/>
          </a:p>
          <a:p>
            <a:r>
              <a:rPr lang="en-GB" dirty="0" smtClean="0"/>
              <a:t>Programming Languages and Compilers</a:t>
            </a:r>
          </a:p>
          <a:p>
            <a:endParaRPr lang="en-GB" dirty="0"/>
          </a:p>
        </p:txBody>
      </p:sp>
    </p:spTree>
    <p:extLst>
      <p:ext uri="{BB962C8B-B14F-4D97-AF65-F5344CB8AC3E}">
        <p14:creationId xmlns:p14="http://schemas.microsoft.com/office/powerpoint/2010/main" val="35662676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Language Processors</a:t>
            </a:r>
            <a:endParaRPr lang="en-GB" b="1" dirty="0"/>
          </a:p>
        </p:txBody>
      </p:sp>
      <p:sp>
        <p:nvSpPr>
          <p:cNvPr id="3" name="Content Placeholder 2"/>
          <p:cNvSpPr>
            <a:spLocks noGrp="1"/>
          </p:cNvSpPr>
          <p:nvPr>
            <p:ph idx="1"/>
          </p:nvPr>
        </p:nvSpPr>
        <p:spPr/>
        <p:txBody>
          <a:bodyPr/>
          <a:lstStyle/>
          <a:p>
            <a:r>
              <a:rPr lang="en-GB" dirty="0" smtClean="0"/>
              <a:t>Language processing, which is concerned with preparing a program to be run on a computer. </a:t>
            </a:r>
          </a:p>
          <a:p>
            <a:r>
              <a:rPr lang="en-GB" dirty="0" smtClean="0"/>
              <a:t>Most programs are written in a relatively high-level language.</a:t>
            </a:r>
          </a:p>
          <a:p>
            <a:r>
              <a:rPr lang="en-GB" dirty="0" smtClean="0"/>
              <a:t>Language processors verify a program follows its language rules and convert it into machine executable form.</a:t>
            </a:r>
          </a:p>
          <a:p>
            <a:r>
              <a:rPr lang="en-GB" dirty="0" smtClean="0"/>
              <a:t>Some language processors perform more translation than others. </a:t>
            </a:r>
          </a:p>
          <a:p>
            <a:endParaRPr lang="en-GB" dirty="0"/>
          </a:p>
        </p:txBody>
      </p:sp>
    </p:spTree>
    <p:extLst>
      <p:ext uri="{BB962C8B-B14F-4D97-AF65-F5344CB8AC3E}">
        <p14:creationId xmlns:p14="http://schemas.microsoft.com/office/powerpoint/2010/main" val="31720961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dirty="0"/>
          </a:p>
        </p:txBody>
      </p:sp>
      <p:pic>
        <p:nvPicPr>
          <p:cNvPr id="2050" name="Picture 2" descr="Language Processor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09071" y="734656"/>
            <a:ext cx="5369168" cy="52739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07413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Pre-processor</a:t>
            </a:r>
            <a:endParaRPr lang="en-GB" dirty="0"/>
          </a:p>
        </p:txBody>
      </p:sp>
      <p:sp>
        <p:nvSpPr>
          <p:cNvPr id="3" name="Content Placeholder 2"/>
          <p:cNvSpPr>
            <a:spLocks noGrp="1"/>
          </p:cNvSpPr>
          <p:nvPr>
            <p:ph idx="1"/>
          </p:nvPr>
        </p:nvSpPr>
        <p:spPr/>
        <p:txBody>
          <a:bodyPr>
            <a:normAutofit/>
          </a:bodyPr>
          <a:lstStyle/>
          <a:p>
            <a:r>
              <a:rPr lang="en-GB" dirty="0" smtClean="0"/>
              <a:t>A pre-processor produce input to compilers. They may perform the following functions.</a:t>
            </a:r>
          </a:p>
          <a:p>
            <a:pPr lvl="1"/>
            <a:r>
              <a:rPr lang="en-GB" b="1" dirty="0" smtClean="0"/>
              <a:t>Macro processing: </a:t>
            </a:r>
            <a:r>
              <a:rPr lang="en-GB" dirty="0" smtClean="0"/>
              <a:t>A </a:t>
            </a:r>
            <a:r>
              <a:rPr lang="en-GB" dirty="0" err="1" smtClean="0"/>
              <a:t>Preprocessor</a:t>
            </a:r>
            <a:r>
              <a:rPr lang="en-GB" dirty="0" smtClean="0"/>
              <a:t> may allow a user to define macros that are short hands for longer constructs.</a:t>
            </a:r>
          </a:p>
          <a:p>
            <a:pPr lvl="1"/>
            <a:r>
              <a:rPr lang="en-GB" b="1" dirty="0" smtClean="0"/>
              <a:t>File inclusion: </a:t>
            </a:r>
            <a:r>
              <a:rPr lang="en-GB" dirty="0" smtClean="0"/>
              <a:t>A </a:t>
            </a:r>
            <a:r>
              <a:rPr lang="en-GB" dirty="0" err="1" smtClean="0"/>
              <a:t>Preprocessor</a:t>
            </a:r>
            <a:r>
              <a:rPr lang="en-GB" dirty="0" smtClean="0"/>
              <a:t> may include header files into the program text</a:t>
            </a:r>
            <a:r>
              <a:rPr lang="en-GB" dirty="0" smtClean="0"/>
              <a:t>.</a:t>
            </a:r>
            <a:endParaRPr lang="en-GB" dirty="0" smtClean="0"/>
          </a:p>
        </p:txBody>
      </p:sp>
    </p:spTree>
    <p:extLst>
      <p:ext uri="{BB962C8B-B14F-4D97-AF65-F5344CB8AC3E}">
        <p14:creationId xmlns:p14="http://schemas.microsoft.com/office/powerpoint/2010/main" val="1368153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COMPILER</a:t>
            </a:r>
            <a:endParaRPr lang="en-GB" b="1" dirty="0"/>
          </a:p>
        </p:txBody>
      </p:sp>
      <p:sp>
        <p:nvSpPr>
          <p:cNvPr id="3" name="Content Placeholder 2"/>
          <p:cNvSpPr>
            <a:spLocks noGrp="1"/>
          </p:cNvSpPr>
          <p:nvPr>
            <p:ph idx="1"/>
          </p:nvPr>
        </p:nvSpPr>
        <p:spPr/>
        <p:txBody>
          <a:bodyPr/>
          <a:lstStyle/>
          <a:p>
            <a:r>
              <a:rPr lang="en-GB" dirty="0" smtClean="0"/>
              <a:t>Compiler is a translator program that translates a program written in (HLL) the source program and translate it into an equivalent program in (MLL) the target program. As an important part of a compiler is error showing to the programmer.</a:t>
            </a:r>
            <a:endParaRPr lang="en-GB" dirty="0"/>
          </a:p>
        </p:txBody>
      </p:sp>
      <p:pic>
        <p:nvPicPr>
          <p:cNvPr id="4" name="Picture 3"/>
          <p:cNvPicPr>
            <a:picLocks noChangeAspect="1"/>
          </p:cNvPicPr>
          <p:nvPr/>
        </p:nvPicPr>
        <p:blipFill>
          <a:blip r:embed="rId2"/>
          <a:stretch>
            <a:fillRect/>
          </a:stretch>
        </p:blipFill>
        <p:spPr>
          <a:xfrm>
            <a:off x="3088398" y="3412471"/>
            <a:ext cx="6034086" cy="2438684"/>
          </a:xfrm>
          <a:prstGeom prst="rect">
            <a:avLst/>
          </a:prstGeom>
        </p:spPr>
      </p:pic>
    </p:spTree>
    <p:extLst>
      <p:ext uri="{BB962C8B-B14F-4D97-AF65-F5344CB8AC3E}">
        <p14:creationId xmlns:p14="http://schemas.microsoft.com/office/powerpoint/2010/main" val="16041396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Assembler</a:t>
            </a:r>
            <a:endParaRPr lang="en-GB" b="1" dirty="0"/>
          </a:p>
        </p:txBody>
      </p:sp>
      <p:sp>
        <p:nvSpPr>
          <p:cNvPr id="3" name="Content Placeholder 2"/>
          <p:cNvSpPr>
            <a:spLocks noGrp="1"/>
          </p:cNvSpPr>
          <p:nvPr>
            <p:ph idx="1"/>
          </p:nvPr>
        </p:nvSpPr>
        <p:spPr/>
        <p:txBody>
          <a:bodyPr>
            <a:normAutofit/>
          </a:bodyPr>
          <a:lstStyle/>
          <a:p>
            <a:r>
              <a:rPr lang="en-GB" dirty="0" smtClean="0"/>
              <a:t>Programmers found it difficult to write or read programs in machine language. They begin to use a mnemonic (symbols) for each machine instruction, which they would subsequently translate into machine language. </a:t>
            </a:r>
          </a:p>
          <a:p>
            <a:r>
              <a:rPr lang="en-GB" dirty="0" smtClean="0"/>
              <a:t>Such a mnemonic machine language is now called an assembly language. Programs known as assembler were written to automate the translation of assembly language in to machine language. </a:t>
            </a:r>
          </a:p>
          <a:p>
            <a:r>
              <a:rPr lang="en-GB" dirty="0" smtClean="0"/>
              <a:t>The input to an assembler program is called source program, the output is a machine language translation (object program).</a:t>
            </a:r>
            <a:endParaRPr lang="en-GB" dirty="0"/>
          </a:p>
        </p:txBody>
      </p:sp>
    </p:spTree>
    <p:extLst>
      <p:ext uri="{BB962C8B-B14F-4D97-AF65-F5344CB8AC3E}">
        <p14:creationId xmlns:p14="http://schemas.microsoft.com/office/powerpoint/2010/main" val="31686661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S232 Compilers, Assemblers, and Linkers"/>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5120642" y="4001294"/>
            <a:ext cx="6966734" cy="26833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GB" b="1" dirty="0" smtClean="0"/>
              <a:t>Linker/Loader</a:t>
            </a:r>
            <a:endParaRPr lang="en-GB" b="1" dirty="0"/>
          </a:p>
        </p:txBody>
      </p:sp>
      <p:sp>
        <p:nvSpPr>
          <p:cNvPr id="3" name="Content Placeholder 2"/>
          <p:cNvSpPr>
            <a:spLocks noGrp="1"/>
          </p:cNvSpPr>
          <p:nvPr>
            <p:ph idx="1"/>
          </p:nvPr>
        </p:nvSpPr>
        <p:spPr/>
        <p:txBody>
          <a:bodyPr/>
          <a:lstStyle/>
          <a:p>
            <a:r>
              <a:rPr lang="en-GB" dirty="0" smtClean="0"/>
              <a:t>After assembly, the object program must be loaded into memory for execution. Early assemblers could load programs directly but wasted memory by staying resident. Reloading the program each time also wasted translation time. To solve this, loaders were introduced—they place programs in memory, adjust addresses (relocation), and prepare them for execution efficiently.</a:t>
            </a:r>
            <a:endParaRPr lang="en-GB" dirty="0"/>
          </a:p>
        </p:txBody>
      </p:sp>
    </p:spTree>
    <p:extLst>
      <p:ext uri="{BB962C8B-B14F-4D97-AF65-F5344CB8AC3E}">
        <p14:creationId xmlns:p14="http://schemas.microsoft.com/office/powerpoint/2010/main" val="5728534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4" name="Picture 3"/>
          <p:cNvPicPr>
            <a:picLocks noChangeAspect="1"/>
          </p:cNvPicPr>
          <p:nvPr/>
        </p:nvPicPr>
        <p:blipFill>
          <a:blip r:embed="rId2"/>
          <a:stretch>
            <a:fillRect/>
          </a:stretch>
        </p:blipFill>
        <p:spPr>
          <a:xfrm>
            <a:off x="734771" y="1027906"/>
            <a:ext cx="10394395" cy="4673647"/>
          </a:xfrm>
          <a:prstGeom prst="rect">
            <a:avLst/>
          </a:prstGeom>
        </p:spPr>
      </p:pic>
    </p:spTree>
    <p:extLst>
      <p:ext uri="{BB962C8B-B14F-4D97-AF65-F5344CB8AC3E}">
        <p14:creationId xmlns:p14="http://schemas.microsoft.com/office/powerpoint/2010/main" val="23087077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Compilers VS Interpreters</a:t>
            </a:r>
            <a:endParaRPr lang="en-GB" dirty="0"/>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2460110539"/>
              </p:ext>
            </p:extLst>
          </p:nvPr>
        </p:nvGraphicFramePr>
        <p:xfrm>
          <a:off x="838200" y="1427592"/>
          <a:ext cx="10515600" cy="347980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3210570586"/>
                    </a:ext>
                  </a:extLst>
                </a:gridCol>
                <a:gridCol w="5257800">
                  <a:extLst>
                    <a:ext uri="{9D8B030D-6E8A-4147-A177-3AD203B41FA5}">
                      <a16:colId xmlns:a16="http://schemas.microsoft.com/office/drawing/2014/main" val="3923161601"/>
                    </a:ext>
                  </a:extLst>
                </a:gridCol>
              </a:tblGrid>
              <a:tr h="370840">
                <a:tc>
                  <a:txBody>
                    <a:bodyPr/>
                    <a:lstStyle/>
                    <a:p>
                      <a:r>
                        <a:rPr lang="en-GB" dirty="0" smtClean="0">
                          <a:effectLst/>
                        </a:rPr>
                        <a:t>Compilers</a:t>
                      </a:r>
                      <a:endParaRPr lang="en-GB" dirty="0">
                        <a:effectLst/>
                      </a:endParaRPr>
                    </a:p>
                  </a:txBody>
                  <a:tcPr anchor="ctr"/>
                </a:tc>
                <a:tc>
                  <a:txBody>
                    <a:bodyPr/>
                    <a:lstStyle/>
                    <a:p>
                      <a:r>
                        <a:rPr lang="en-GB" dirty="0" smtClean="0"/>
                        <a:t>Interpreters</a:t>
                      </a:r>
                      <a:endParaRPr lang="en-GB" dirty="0"/>
                    </a:p>
                  </a:txBody>
                  <a:tcPr/>
                </a:tc>
                <a:extLst>
                  <a:ext uri="{0D108BD9-81ED-4DB2-BD59-A6C34878D82A}">
                    <a16:rowId xmlns:a16="http://schemas.microsoft.com/office/drawing/2014/main" val="2721064747"/>
                  </a:ext>
                </a:extLst>
              </a:tr>
              <a:tr h="370840">
                <a:tc>
                  <a:txBody>
                    <a:bodyPr/>
                    <a:lstStyle/>
                    <a:p>
                      <a:pPr marL="285750" indent="-285750">
                        <a:buFont typeface="Arial" panose="020B0604020202020204" pitchFamily="34" charset="0"/>
                        <a:buChar char="•"/>
                      </a:pPr>
                      <a:r>
                        <a:rPr lang="en-GB" sz="1800" b="0" i="0" dirty="0" smtClean="0">
                          <a:solidFill>
                            <a:srgbClr val="000000"/>
                          </a:solidFill>
                          <a:effectLst/>
                          <a:latin typeface="Calibri" panose="020F0502020204030204" pitchFamily="34" charset="0"/>
                        </a:rPr>
                        <a:t>Takes </a:t>
                      </a:r>
                      <a:r>
                        <a:rPr lang="en-GB" sz="1800" b="0" i="0" dirty="0">
                          <a:solidFill>
                            <a:srgbClr val="000000"/>
                          </a:solidFill>
                          <a:effectLst/>
                          <a:latin typeface="Calibri" panose="020F0502020204030204" pitchFamily="34" charset="0"/>
                        </a:rPr>
                        <a:t>Entire program as </a:t>
                      </a:r>
                      <a:r>
                        <a:rPr lang="en-GB" sz="1800" b="0" i="0" dirty="0" smtClean="0">
                          <a:solidFill>
                            <a:srgbClr val="000000"/>
                          </a:solidFill>
                          <a:effectLst/>
                          <a:latin typeface="Calibri" panose="020F0502020204030204" pitchFamily="34" charset="0"/>
                        </a:rPr>
                        <a:t>input</a:t>
                      </a:r>
                      <a:endParaRPr lang="en-GB" sz="1800" b="0" i="0" dirty="0" smtClean="0">
                        <a:solidFill>
                          <a:srgbClr val="000000"/>
                        </a:solidFill>
                        <a:effectLst/>
                        <a:latin typeface="ArialMT"/>
                      </a:endParaRPr>
                    </a:p>
                    <a:p>
                      <a:pPr marL="285750" indent="-285750">
                        <a:buFont typeface="Arial" panose="020B0604020202020204" pitchFamily="34" charset="0"/>
                        <a:buChar char="•"/>
                      </a:pPr>
                      <a:r>
                        <a:rPr lang="en-GB" sz="1800" b="0" i="0" dirty="0" smtClean="0">
                          <a:solidFill>
                            <a:srgbClr val="000000"/>
                          </a:solidFill>
                          <a:effectLst/>
                          <a:latin typeface="Calibri" panose="020F0502020204030204" pitchFamily="34" charset="0"/>
                        </a:rPr>
                        <a:t>It </a:t>
                      </a:r>
                      <a:r>
                        <a:rPr lang="en-GB" sz="1800" b="0" i="0" dirty="0">
                          <a:solidFill>
                            <a:srgbClr val="000000"/>
                          </a:solidFill>
                          <a:effectLst/>
                          <a:latin typeface="Calibri" panose="020F0502020204030204" pitchFamily="34" charset="0"/>
                        </a:rPr>
                        <a:t>is </a:t>
                      </a:r>
                      <a:r>
                        <a:rPr lang="en-GB" sz="1800" b="0" i="0" dirty="0" smtClean="0">
                          <a:solidFill>
                            <a:srgbClr val="000000"/>
                          </a:solidFill>
                          <a:effectLst/>
                          <a:latin typeface="Calibri" panose="020F0502020204030204" pitchFamily="34" charset="0"/>
                        </a:rPr>
                        <a:t>Faster</a:t>
                      </a:r>
                      <a:endParaRPr lang="en-GB" sz="1800" b="0" i="0" dirty="0" smtClean="0">
                        <a:solidFill>
                          <a:srgbClr val="000000"/>
                        </a:solidFill>
                        <a:effectLst/>
                        <a:latin typeface="ArialMT"/>
                      </a:endParaRPr>
                    </a:p>
                    <a:p>
                      <a:pPr marL="285750" indent="-285750">
                        <a:buFont typeface="Arial" panose="020B0604020202020204" pitchFamily="34" charset="0"/>
                        <a:buChar char="•"/>
                      </a:pPr>
                      <a:r>
                        <a:rPr lang="en-GB" sz="1800" b="0" i="0" dirty="0" smtClean="0">
                          <a:solidFill>
                            <a:srgbClr val="000000"/>
                          </a:solidFill>
                          <a:effectLst/>
                          <a:latin typeface="Calibri" panose="020F0502020204030204" pitchFamily="34" charset="0"/>
                        </a:rPr>
                        <a:t>Intermediate </a:t>
                      </a:r>
                      <a:r>
                        <a:rPr lang="en-GB" sz="1800" b="0" i="0" dirty="0">
                          <a:solidFill>
                            <a:srgbClr val="000000"/>
                          </a:solidFill>
                          <a:effectLst/>
                          <a:latin typeface="Calibri" panose="020F0502020204030204" pitchFamily="34" charset="0"/>
                        </a:rPr>
                        <a:t>object code is </a:t>
                      </a:r>
                      <a:r>
                        <a:rPr lang="en-GB" sz="1800" b="0" i="0" dirty="0" smtClean="0">
                          <a:solidFill>
                            <a:srgbClr val="000000"/>
                          </a:solidFill>
                          <a:effectLst/>
                          <a:latin typeface="Calibri" panose="020F0502020204030204" pitchFamily="34" charset="0"/>
                        </a:rPr>
                        <a:t>generated.</a:t>
                      </a:r>
                      <a:endParaRPr lang="en-GB" sz="1800" b="0" i="0" dirty="0" smtClean="0">
                        <a:solidFill>
                          <a:srgbClr val="000000"/>
                        </a:solidFill>
                        <a:effectLst/>
                        <a:latin typeface="ArialMT"/>
                      </a:endParaRPr>
                    </a:p>
                    <a:p>
                      <a:pPr marL="285750" indent="-285750">
                        <a:buFont typeface="Arial" panose="020B0604020202020204" pitchFamily="34" charset="0"/>
                        <a:buChar char="•"/>
                      </a:pPr>
                      <a:r>
                        <a:rPr lang="en-GB" sz="1800" b="0" i="0" dirty="0" smtClean="0">
                          <a:solidFill>
                            <a:srgbClr val="000000"/>
                          </a:solidFill>
                          <a:effectLst/>
                          <a:latin typeface="Calibri" panose="020F0502020204030204" pitchFamily="34" charset="0"/>
                        </a:rPr>
                        <a:t>Required </a:t>
                      </a:r>
                      <a:r>
                        <a:rPr lang="en-GB" sz="1800" b="0" i="0" dirty="0">
                          <a:solidFill>
                            <a:srgbClr val="000000"/>
                          </a:solidFill>
                          <a:effectLst/>
                          <a:latin typeface="Calibri" panose="020F0502020204030204" pitchFamily="34" charset="0"/>
                        </a:rPr>
                        <a:t>more memory Due </a:t>
                      </a:r>
                      <a:r>
                        <a:rPr lang="en-GB" sz="1800" b="0" i="0" dirty="0" smtClean="0">
                          <a:solidFill>
                            <a:srgbClr val="000000"/>
                          </a:solidFill>
                          <a:effectLst/>
                          <a:latin typeface="Calibri" panose="020F0502020204030204" pitchFamily="34" charset="0"/>
                        </a:rPr>
                        <a:t>to intermediate </a:t>
                      </a:r>
                      <a:r>
                        <a:rPr lang="en-GB" sz="1800" b="0" i="0" dirty="0">
                          <a:solidFill>
                            <a:srgbClr val="000000"/>
                          </a:solidFill>
                          <a:effectLst/>
                          <a:latin typeface="Calibri" panose="020F0502020204030204" pitchFamily="34" charset="0"/>
                        </a:rPr>
                        <a:t>object </a:t>
                      </a:r>
                      <a:r>
                        <a:rPr lang="en-GB" sz="1800" b="0" i="0" dirty="0" smtClean="0">
                          <a:solidFill>
                            <a:srgbClr val="000000"/>
                          </a:solidFill>
                          <a:effectLst/>
                          <a:latin typeface="Calibri" panose="020F0502020204030204" pitchFamily="34" charset="0"/>
                        </a:rPr>
                        <a:t>code</a:t>
                      </a:r>
                      <a:endParaRPr lang="en-GB" sz="1800" b="0" i="0" dirty="0" smtClean="0">
                        <a:solidFill>
                          <a:srgbClr val="000000"/>
                        </a:solidFill>
                        <a:effectLst/>
                        <a:latin typeface="ArialMT"/>
                      </a:endParaRPr>
                    </a:p>
                    <a:p>
                      <a:pPr marL="285750" indent="-285750">
                        <a:buFont typeface="Arial" panose="020B0604020202020204" pitchFamily="34" charset="0"/>
                        <a:buChar char="•"/>
                      </a:pPr>
                      <a:r>
                        <a:rPr lang="en-GB" sz="1800" b="0" i="0" dirty="0" smtClean="0">
                          <a:solidFill>
                            <a:srgbClr val="000000"/>
                          </a:solidFill>
                          <a:effectLst/>
                          <a:latin typeface="Calibri" panose="020F0502020204030204" pitchFamily="34" charset="0"/>
                        </a:rPr>
                        <a:t>Program </a:t>
                      </a:r>
                      <a:r>
                        <a:rPr lang="en-GB" sz="1800" b="0" i="0" dirty="0">
                          <a:solidFill>
                            <a:srgbClr val="000000"/>
                          </a:solidFill>
                          <a:effectLst/>
                          <a:latin typeface="Calibri" panose="020F0502020204030204" pitchFamily="34" charset="0"/>
                        </a:rPr>
                        <a:t>not need compile every </a:t>
                      </a:r>
                      <a:r>
                        <a:rPr lang="en-GB" sz="1800" b="0" i="0" dirty="0" smtClean="0">
                          <a:solidFill>
                            <a:srgbClr val="000000"/>
                          </a:solidFill>
                          <a:effectLst/>
                          <a:latin typeface="Calibri" panose="020F0502020204030204" pitchFamily="34" charset="0"/>
                        </a:rPr>
                        <a:t>time</a:t>
                      </a:r>
                      <a:endParaRPr lang="en-GB" sz="1800" b="0" i="0" dirty="0" smtClean="0">
                        <a:solidFill>
                          <a:srgbClr val="000000"/>
                        </a:solidFill>
                        <a:effectLst/>
                        <a:latin typeface="ArialMT"/>
                      </a:endParaRPr>
                    </a:p>
                    <a:p>
                      <a:pPr marL="285750" indent="-285750">
                        <a:buFont typeface="Arial" panose="020B0604020202020204" pitchFamily="34" charset="0"/>
                        <a:buChar char="•"/>
                      </a:pPr>
                      <a:r>
                        <a:rPr lang="en-GB" sz="1800" b="0" i="0" dirty="0" smtClean="0">
                          <a:solidFill>
                            <a:srgbClr val="000000"/>
                          </a:solidFill>
                          <a:effectLst/>
                          <a:latin typeface="Calibri" panose="020F0502020204030204" pitchFamily="34" charset="0"/>
                        </a:rPr>
                        <a:t>Errors </a:t>
                      </a:r>
                      <a:r>
                        <a:rPr lang="en-GB" sz="1800" b="0" i="0" dirty="0">
                          <a:solidFill>
                            <a:srgbClr val="000000"/>
                          </a:solidFill>
                          <a:effectLst/>
                          <a:latin typeface="Calibri" panose="020F0502020204030204" pitchFamily="34" charset="0"/>
                        </a:rPr>
                        <a:t>are displayed after </a:t>
                      </a:r>
                      <a:r>
                        <a:rPr lang="en-GB" sz="1800" b="0" i="0" dirty="0" smtClean="0">
                          <a:solidFill>
                            <a:srgbClr val="000000"/>
                          </a:solidFill>
                          <a:effectLst/>
                          <a:latin typeface="Calibri" panose="020F0502020204030204" pitchFamily="34" charset="0"/>
                        </a:rPr>
                        <a:t>entire program </a:t>
                      </a:r>
                      <a:r>
                        <a:rPr lang="en-GB" sz="1800" b="0" i="0" dirty="0">
                          <a:solidFill>
                            <a:srgbClr val="000000"/>
                          </a:solidFill>
                          <a:effectLst/>
                          <a:latin typeface="Calibri" panose="020F0502020204030204" pitchFamily="34" charset="0"/>
                        </a:rPr>
                        <a:t>is </a:t>
                      </a:r>
                      <a:r>
                        <a:rPr lang="en-GB" sz="1800" b="0" i="0" dirty="0" smtClean="0">
                          <a:solidFill>
                            <a:srgbClr val="000000"/>
                          </a:solidFill>
                          <a:effectLst/>
                          <a:latin typeface="Calibri" panose="020F0502020204030204" pitchFamily="34" charset="0"/>
                        </a:rPr>
                        <a:t>checked</a:t>
                      </a:r>
                      <a:r>
                        <a:rPr lang="en-GB" sz="1800" b="0" i="0" dirty="0" smtClean="0">
                          <a:solidFill>
                            <a:srgbClr val="000000"/>
                          </a:solidFill>
                          <a:effectLst/>
                          <a:latin typeface="ArialMT"/>
                        </a:rPr>
                        <a:t> </a:t>
                      </a:r>
                      <a:r>
                        <a:rPr lang="en-GB" sz="1800" b="0" i="0" dirty="0">
                          <a:solidFill>
                            <a:srgbClr val="000000"/>
                          </a:solidFill>
                          <a:effectLst/>
                          <a:latin typeface="Calibri" panose="020F0502020204030204" pitchFamily="34" charset="0"/>
                        </a:rPr>
                        <a:t>Debugging is comparatively hard</a:t>
                      </a:r>
                      <a:r>
                        <a:rPr lang="en-GB" sz="1800" b="0" i="0" dirty="0" smtClean="0">
                          <a:solidFill>
                            <a:srgbClr val="000000"/>
                          </a:solidFill>
                          <a:effectLst/>
                          <a:latin typeface="Calibri" panose="020F0502020204030204" pitchFamily="34" charset="0"/>
                        </a:rPr>
                        <a:t>.</a:t>
                      </a:r>
                      <a:endParaRPr lang="en-GB" sz="1800" b="0" i="0" dirty="0" smtClean="0">
                        <a:solidFill>
                          <a:srgbClr val="000000"/>
                        </a:solidFill>
                        <a:effectLst/>
                        <a:latin typeface="ArialMT"/>
                      </a:endParaRPr>
                    </a:p>
                    <a:p>
                      <a:pPr marL="285750" indent="-285750">
                        <a:buFont typeface="Arial" panose="020B0604020202020204" pitchFamily="34" charset="0"/>
                        <a:buChar char="•"/>
                      </a:pPr>
                      <a:r>
                        <a:rPr lang="en-GB" sz="1800" b="0" i="0" dirty="0" smtClean="0">
                          <a:solidFill>
                            <a:srgbClr val="000000"/>
                          </a:solidFill>
                          <a:effectLst/>
                          <a:latin typeface="ArialMT"/>
                        </a:rPr>
                        <a:t> </a:t>
                      </a:r>
                      <a:r>
                        <a:rPr lang="en-GB" sz="1800" b="0" i="0" dirty="0">
                          <a:solidFill>
                            <a:srgbClr val="000000"/>
                          </a:solidFill>
                          <a:effectLst/>
                          <a:latin typeface="Calibri" panose="020F0502020204030204" pitchFamily="34" charset="0"/>
                        </a:rPr>
                        <a:t>Ex: C, C++</a:t>
                      </a:r>
                      <a:endParaRPr lang="en-GB" dirty="0">
                        <a:effectLst/>
                      </a:endParaRPr>
                    </a:p>
                  </a:txBody>
                  <a:tcPr anchor="ctr"/>
                </a:tc>
                <a:tc>
                  <a:txBody>
                    <a:bodyPr/>
                    <a:lstStyle/>
                    <a:p>
                      <a:pPr marL="285750" indent="-285750">
                        <a:buFont typeface="Arial" panose="020B0604020202020204" pitchFamily="34" charset="0"/>
                        <a:buChar char="•"/>
                      </a:pPr>
                      <a:r>
                        <a:rPr lang="en-GB" dirty="0" smtClean="0"/>
                        <a:t>Take single instruction as input</a:t>
                      </a:r>
                    </a:p>
                    <a:p>
                      <a:pPr marL="285750" indent="-285750">
                        <a:buFont typeface="Arial" panose="020B0604020202020204" pitchFamily="34" charset="0"/>
                        <a:buChar char="•"/>
                      </a:pPr>
                      <a:r>
                        <a:rPr lang="en-GB" dirty="0" smtClean="0"/>
                        <a:t>It is Slower</a:t>
                      </a:r>
                    </a:p>
                    <a:p>
                      <a:pPr marL="285750" indent="-285750">
                        <a:buFont typeface="Arial" panose="020B0604020202020204" pitchFamily="34" charset="0"/>
                        <a:buChar char="•"/>
                      </a:pPr>
                      <a:r>
                        <a:rPr lang="en-GB" dirty="0" smtClean="0"/>
                        <a:t>No intermediate code is generated</a:t>
                      </a:r>
                    </a:p>
                    <a:p>
                      <a:pPr marL="285750" indent="-285750">
                        <a:buFont typeface="Arial" panose="020B0604020202020204" pitchFamily="34" charset="0"/>
                        <a:buChar char="•"/>
                      </a:pPr>
                      <a:r>
                        <a:rPr lang="en-GB" dirty="0" smtClean="0"/>
                        <a:t>Required less memory As no</a:t>
                      </a:r>
                      <a:r>
                        <a:rPr lang="en-GB" baseline="0" dirty="0" smtClean="0"/>
                        <a:t> </a:t>
                      </a:r>
                      <a:r>
                        <a:rPr lang="en-GB" dirty="0" smtClean="0"/>
                        <a:t>intermediate code is generated</a:t>
                      </a:r>
                    </a:p>
                    <a:p>
                      <a:pPr marL="285750" indent="-285750">
                        <a:buFont typeface="Arial" panose="020B0604020202020204" pitchFamily="34" charset="0"/>
                        <a:buChar char="•"/>
                      </a:pPr>
                      <a:r>
                        <a:rPr lang="en-GB" dirty="0" smtClean="0"/>
                        <a:t>Every time higher level program is</a:t>
                      </a:r>
                      <a:r>
                        <a:rPr lang="en-GB" baseline="0" dirty="0" smtClean="0"/>
                        <a:t> </a:t>
                      </a:r>
                      <a:r>
                        <a:rPr lang="en-GB" dirty="0" smtClean="0"/>
                        <a:t>converted into lower level program.</a:t>
                      </a:r>
                    </a:p>
                    <a:p>
                      <a:pPr marL="285750" indent="-285750">
                        <a:buFont typeface="Arial" panose="020B0604020202020204" pitchFamily="34" charset="0"/>
                        <a:buChar char="•"/>
                      </a:pPr>
                      <a:r>
                        <a:rPr lang="en-GB" dirty="0" smtClean="0"/>
                        <a:t>Errors are displayed for every</a:t>
                      </a:r>
                      <a:r>
                        <a:rPr lang="en-GB" baseline="0" dirty="0" smtClean="0"/>
                        <a:t> </a:t>
                      </a:r>
                      <a:r>
                        <a:rPr lang="en-GB" dirty="0" smtClean="0"/>
                        <a:t>instruction interpreted.</a:t>
                      </a:r>
                      <a:r>
                        <a:rPr lang="en-GB" baseline="0" dirty="0" smtClean="0"/>
                        <a:t> </a:t>
                      </a:r>
                    </a:p>
                    <a:p>
                      <a:pPr marL="285750" indent="-285750">
                        <a:buFont typeface="Arial" panose="020B0604020202020204" pitchFamily="34" charset="0"/>
                        <a:buChar char="•"/>
                      </a:pPr>
                      <a:r>
                        <a:rPr lang="en-GB" dirty="0" smtClean="0"/>
                        <a:t>Debugging is easy.</a:t>
                      </a:r>
                    </a:p>
                    <a:p>
                      <a:pPr marL="285750" indent="-285750">
                        <a:buFont typeface="Arial" panose="020B0604020202020204" pitchFamily="34" charset="0"/>
                        <a:buChar char="•"/>
                      </a:pPr>
                      <a:r>
                        <a:rPr lang="en-GB" dirty="0" smtClean="0"/>
                        <a:t>Ex: python, Ruby, basic.</a:t>
                      </a:r>
                      <a:endParaRPr lang="en-GB" dirty="0"/>
                    </a:p>
                  </a:txBody>
                  <a:tcPr/>
                </a:tc>
                <a:extLst>
                  <a:ext uri="{0D108BD9-81ED-4DB2-BD59-A6C34878D82A}">
                    <a16:rowId xmlns:a16="http://schemas.microsoft.com/office/drawing/2014/main" val="2765951843"/>
                  </a:ext>
                </a:extLst>
              </a:tr>
            </a:tbl>
          </a:graphicData>
        </a:graphic>
      </p:graphicFrame>
      <p:pic>
        <p:nvPicPr>
          <p:cNvPr id="9" name="Picture 8"/>
          <p:cNvPicPr>
            <a:picLocks noChangeAspect="1"/>
          </p:cNvPicPr>
          <p:nvPr/>
        </p:nvPicPr>
        <p:blipFill>
          <a:blip r:embed="rId2"/>
          <a:stretch>
            <a:fillRect/>
          </a:stretch>
        </p:blipFill>
        <p:spPr>
          <a:xfrm>
            <a:off x="1539297" y="5015361"/>
            <a:ext cx="4226556" cy="1708168"/>
          </a:xfrm>
          <a:prstGeom prst="rect">
            <a:avLst/>
          </a:prstGeom>
        </p:spPr>
      </p:pic>
      <p:pic>
        <p:nvPicPr>
          <p:cNvPr id="10" name="Picture 9"/>
          <p:cNvPicPr>
            <a:picLocks noChangeAspect="1"/>
          </p:cNvPicPr>
          <p:nvPr/>
        </p:nvPicPr>
        <p:blipFill>
          <a:blip r:embed="rId3"/>
          <a:stretch>
            <a:fillRect/>
          </a:stretch>
        </p:blipFill>
        <p:spPr>
          <a:xfrm>
            <a:off x="6528154" y="5092552"/>
            <a:ext cx="4724345" cy="1553785"/>
          </a:xfrm>
          <a:prstGeom prst="rect">
            <a:avLst/>
          </a:prstGeom>
        </p:spPr>
      </p:pic>
    </p:spTree>
    <p:extLst>
      <p:ext uri="{BB962C8B-B14F-4D97-AF65-F5344CB8AC3E}">
        <p14:creationId xmlns:p14="http://schemas.microsoft.com/office/powerpoint/2010/main" val="10172118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Hybrid Compilers</a:t>
            </a:r>
            <a:br>
              <a:rPr lang="en-GB" dirty="0"/>
            </a:br>
            <a:endParaRPr lang="en-GB" dirty="0"/>
          </a:p>
        </p:txBody>
      </p:sp>
      <p:sp>
        <p:nvSpPr>
          <p:cNvPr id="3" name="Content Placeholder 2"/>
          <p:cNvSpPr>
            <a:spLocks noGrp="1"/>
          </p:cNvSpPr>
          <p:nvPr>
            <p:ph idx="1"/>
          </p:nvPr>
        </p:nvSpPr>
        <p:spPr/>
        <p:txBody>
          <a:bodyPr>
            <a:normAutofit/>
          </a:bodyPr>
          <a:lstStyle/>
          <a:p>
            <a:r>
              <a:rPr lang="en-GB" dirty="0" smtClean="0"/>
              <a:t>Compilation </a:t>
            </a:r>
            <a:r>
              <a:rPr lang="en-GB" dirty="0"/>
              <a:t>and interpretation may </a:t>
            </a:r>
            <a:r>
              <a:rPr lang="en-GB" dirty="0" smtClean="0"/>
              <a:t>be combined </a:t>
            </a:r>
            <a:r>
              <a:rPr lang="en-GB" dirty="0"/>
              <a:t>to implement a </a:t>
            </a:r>
            <a:r>
              <a:rPr lang="en-GB" dirty="0" smtClean="0"/>
              <a:t>programming language</a:t>
            </a:r>
            <a:r>
              <a:rPr lang="en-GB" dirty="0"/>
              <a:t>:</a:t>
            </a:r>
          </a:p>
          <a:p>
            <a:r>
              <a:rPr lang="en-GB" dirty="0" smtClean="0"/>
              <a:t>The </a:t>
            </a:r>
            <a:r>
              <a:rPr lang="en-GB" dirty="0"/>
              <a:t>compiler may produce </a:t>
            </a:r>
            <a:r>
              <a:rPr lang="en-GB" dirty="0" smtClean="0"/>
              <a:t>intermediate-level code </a:t>
            </a:r>
            <a:r>
              <a:rPr lang="en-GB" dirty="0"/>
              <a:t>which is then interpreted rather </a:t>
            </a:r>
            <a:r>
              <a:rPr lang="en-GB" dirty="0" smtClean="0"/>
              <a:t>than compiled </a:t>
            </a:r>
            <a:r>
              <a:rPr lang="en-GB" dirty="0"/>
              <a:t>to machine code.</a:t>
            </a:r>
          </a:p>
          <a:p>
            <a:r>
              <a:rPr lang="en-GB" dirty="0" smtClean="0"/>
              <a:t>Ex</a:t>
            </a:r>
            <a:r>
              <a:rPr lang="en-GB" dirty="0"/>
              <a:t>: java </a:t>
            </a:r>
            <a:br>
              <a:rPr lang="en-GB" dirty="0"/>
            </a:br>
            <a:endParaRPr lang="en-GB" dirty="0"/>
          </a:p>
        </p:txBody>
      </p:sp>
      <p:pic>
        <p:nvPicPr>
          <p:cNvPr id="4" name="Picture 3"/>
          <p:cNvPicPr>
            <a:picLocks noChangeAspect="1"/>
          </p:cNvPicPr>
          <p:nvPr/>
        </p:nvPicPr>
        <p:blipFill>
          <a:blip r:embed="rId2"/>
          <a:stretch>
            <a:fillRect/>
          </a:stretch>
        </p:blipFill>
        <p:spPr>
          <a:xfrm>
            <a:off x="4548188" y="3856505"/>
            <a:ext cx="5479626" cy="2813235"/>
          </a:xfrm>
          <a:prstGeom prst="rect">
            <a:avLst/>
          </a:prstGeom>
        </p:spPr>
      </p:pic>
    </p:spTree>
    <p:extLst>
      <p:ext uri="{BB962C8B-B14F-4D97-AF65-F5344CB8AC3E}">
        <p14:creationId xmlns:p14="http://schemas.microsoft.com/office/powerpoint/2010/main" val="16065799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Compiler Construction Tools</a:t>
            </a:r>
            <a:endParaRPr lang="en-GB" b="1" dirty="0"/>
          </a:p>
        </p:txBody>
      </p:sp>
      <p:sp>
        <p:nvSpPr>
          <p:cNvPr id="3" name="Content Placeholder 2"/>
          <p:cNvSpPr>
            <a:spLocks noGrp="1"/>
          </p:cNvSpPr>
          <p:nvPr>
            <p:ph idx="1"/>
          </p:nvPr>
        </p:nvSpPr>
        <p:spPr>
          <a:xfrm>
            <a:off x="838200" y="1825624"/>
            <a:ext cx="10515600" cy="4639721"/>
          </a:xfrm>
        </p:spPr>
        <p:txBody>
          <a:bodyPr>
            <a:normAutofit fontScale="85000" lnSpcReduction="20000"/>
          </a:bodyPr>
          <a:lstStyle/>
          <a:p>
            <a:r>
              <a:rPr lang="en-GB" b="1" dirty="0"/>
              <a:t>Parser generators </a:t>
            </a:r>
            <a:r>
              <a:rPr lang="en-GB" dirty="0"/>
              <a:t>that automatically produce syntax </a:t>
            </a:r>
            <a:r>
              <a:rPr lang="en-GB" dirty="0" smtClean="0"/>
              <a:t>analysers </a:t>
            </a:r>
            <a:r>
              <a:rPr lang="en-GB" dirty="0"/>
              <a:t>from a </a:t>
            </a:r>
            <a:r>
              <a:rPr lang="en-GB" dirty="0" smtClean="0"/>
              <a:t>grammatical description </a:t>
            </a:r>
            <a:r>
              <a:rPr lang="en-GB" dirty="0"/>
              <a:t>of a programming language.</a:t>
            </a:r>
          </a:p>
          <a:p>
            <a:r>
              <a:rPr lang="en-GB" b="1" dirty="0" smtClean="0"/>
              <a:t>Scanner </a:t>
            </a:r>
            <a:r>
              <a:rPr lang="en-GB" b="1" dirty="0"/>
              <a:t>generators </a:t>
            </a:r>
            <a:r>
              <a:rPr lang="en-GB" dirty="0"/>
              <a:t>that produce lexical </a:t>
            </a:r>
            <a:r>
              <a:rPr lang="en-GB" dirty="0" smtClean="0"/>
              <a:t>analysers </a:t>
            </a:r>
            <a:r>
              <a:rPr lang="en-GB" dirty="0"/>
              <a:t>from a regular-expression description </a:t>
            </a:r>
            <a:r>
              <a:rPr lang="en-GB" dirty="0" smtClean="0"/>
              <a:t>of the </a:t>
            </a:r>
            <a:r>
              <a:rPr lang="en-GB" dirty="0"/>
              <a:t>tokens of a language.</a:t>
            </a:r>
          </a:p>
          <a:p>
            <a:r>
              <a:rPr lang="en-GB" b="1" dirty="0" smtClean="0"/>
              <a:t>Syntax-directed </a:t>
            </a:r>
            <a:r>
              <a:rPr lang="en-GB" b="1" dirty="0"/>
              <a:t>translation engines </a:t>
            </a:r>
            <a:r>
              <a:rPr lang="en-GB" dirty="0"/>
              <a:t>that produce collections of routines for walking a </a:t>
            </a:r>
            <a:r>
              <a:rPr lang="en-GB" dirty="0" smtClean="0"/>
              <a:t>parse tree </a:t>
            </a:r>
            <a:r>
              <a:rPr lang="en-GB" dirty="0"/>
              <a:t>and generating intermediate code.</a:t>
            </a:r>
          </a:p>
          <a:p>
            <a:r>
              <a:rPr lang="en-GB" b="1" dirty="0" smtClean="0"/>
              <a:t>Code-generator </a:t>
            </a:r>
            <a:r>
              <a:rPr lang="en-GB" b="1" dirty="0"/>
              <a:t>generators </a:t>
            </a:r>
            <a:r>
              <a:rPr lang="en-GB" dirty="0"/>
              <a:t>that produce a code generator from a collection of rules </a:t>
            </a:r>
            <a:r>
              <a:rPr lang="en-GB" dirty="0" smtClean="0"/>
              <a:t>for translating </a:t>
            </a:r>
            <a:r>
              <a:rPr lang="en-GB" dirty="0"/>
              <a:t>each operation of the intermediate language into the machine language for </a:t>
            </a:r>
            <a:r>
              <a:rPr lang="en-GB" dirty="0" smtClean="0"/>
              <a:t>a target </a:t>
            </a:r>
            <a:r>
              <a:rPr lang="en-GB" dirty="0"/>
              <a:t>machine.</a:t>
            </a:r>
          </a:p>
          <a:p>
            <a:r>
              <a:rPr lang="en-GB" b="1" dirty="0" smtClean="0"/>
              <a:t>Data-flow </a:t>
            </a:r>
            <a:r>
              <a:rPr lang="en-GB" b="1" dirty="0"/>
              <a:t>analysis engines </a:t>
            </a:r>
            <a:r>
              <a:rPr lang="en-GB" dirty="0"/>
              <a:t>that facilitate the gathering of information about how values </a:t>
            </a:r>
            <a:r>
              <a:rPr lang="en-GB" dirty="0" smtClean="0"/>
              <a:t>are transmitted </a:t>
            </a:r>
            <a:r>
              <a:rPr lang="en-GB" dirty="0"/>
              <a:t>from one part of a program to each other part. Data-flow analysis is a key part </a:t>
            </a:r>
            <a:r>
              <a:rPr lang="en-GB" dirty="0" smtClean="0"/>
              <a:t>of code </a:t>
            </a:r>
            <a:r>
              <a:rPr lang="en-GB" dirty="0"/>
              <a:t>optimization.</a:t>
            </a:r>
          </a:p>
          <a:p>
            <a:r>
              <a:rPr lang="en-GB" b="1" dirty="0" smtClean="0"/>
              <a:t>Compiler-construction </a:t>
            </a:r>
            <a:r>
              <a:rPr lang="en-GB" b="1" dirty="0"/>
              <a:t>toolkits </a:t>
            </a:r>
            <a:r>
              <a:rPr lang="en-GB" dirty="0"/>
              <a:t>that provide an integrated set of routines for </a:t>
            </a:r>
            <a:r>
              <a:rPr lang="en-GB" dirty="0" smtClean="0"/>
              <a:t>constructing various </a:t>
            </a:r>
            <a:r>
              <a:rPr lang="en-GB" dirty="0"/>
              <a:t>phases of a compiler. </a:t>
            </a:r>
            <a:br>
              <a:rPr lang="en-GB" dirty="0"/>
            </a:br>
            <a:endParaRPr lang="en-GB" dirty="0"/>
          </a:p>
        </p:txBody>
      </p:sp>
    </p:spTree>
    <p:extLst>
      <p:ext uri="{BB962C8B-B14F-4D97-AF65-F5344CB8AC3E}">
        <p14:creationId xmlns:p14="http://schemas.microsoft.com/office/powerpoint/2010/main" val="34138558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Structure of Compiler</a:t>
            </a:r>
            <a:endParaRPr lang="en-GB" dirty="0"/>
          </a:p>
        </p:txBody>
      </p:sp>
      <p:pic>
        <p:nvPicPr>
          <p:cNvPr id="4" name="Content Placeholder 3"/>
          <p:cNvPicPr>
            <a:picLocks noGrp="1" noChangeAspect="1"/>
          </p:cNvPicPr>
          <p:nvPr>
            <p:ph idx="1"/>
          </p:nvPr>
        </p:nvPicPr>
        <p:blipFill>
          <a:blip r:embed="rId2"/>
          <a:stretch>
            <a:fillRect/>
          </a:stretch>
        </p:blipFill>
        <p:spPr>
          <a:xfrm>
            <a:off x="680410" y="1777206"/>
            <a:ext cx="10831180" cy="3407980"/>
          </a:xfrm>
          <a:prstGeom prst="rect">
            <a:avLst/>
          </a:prstGeom>
        </p:spPr>
      </p:pic>
    </p:spTree>
    <p:extLst>
      <p:ext uri="{BB962C8B-B14F-4D97-AF65-F5344CB8AC3E}">
        <p14:creationId xmlns:p14="http://schemas.microsoft.com/office/powerpoint/2010/main" val="37555850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4" name="Picture 3"/>
          <p:cNvPicPr>
            <a:picLocks noChangeAspect="1"/>
          </p:cNvPicPr>
          <p:nvPr/>
        </p:nvPicPr>
        <p:blipFill>
          <a:blip r:embed="rId2"/>
          <a:stretch>
            <a:fillRect/>
          </a:stretch>
        </p:blipFill>
        <p:spPr>
          <a:xfrm>
            <a:off x="6927490" y="365125"/>
            <a:ext cx="4759854" cy="6078706"/>
          </a:xfrm>
          <a:prstGeom prst="rect">
            <a:avLst/>
          </a:prstGeom>
        </p:spPr>
      </p:pic>
    </p:spTree>
    <p:extLst>
      <p:ext uri="{BB962C8B-B14F-4D97-AF65-F5344CB8AC3E}">
        <p14:creationId xmlns:p14="http://schemas.microsoft.com/office/powerpoint/2010/main" val="6126612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4" name="Picture 3"/>
          <p:cNvPicPr>
            <a:picLocks noChangeAspect="1"/>
          </p:cNvPicPr>
          <p:nvPr/>
        </p:nvPicPr>
        <p:blipFill>
          <a:blip r:embed="rId2"/>
          <a:stretch>
            <a:fillRect/>
          </a:stretch>
        </p:blipFill>
        <p:spPr>
          <a:xfrm>
            <a:off x="832165" y="896555"/>
            <a:ext cx="10521635" cy="4923331"/>
          </a:xfrm>
          <a:prstGeom prst="rect">
            <a:avLst/>
          </a:prstGeom>
        </p:spPr>
      </p:pic>
    </p:spTree>
    <p:extLst>
      <p:ext uri="{BB962C8B-B14F-4D97-AF65-F5344CB8AC3E}">
        <p14:creationId xmlns:p14="http://schemas.microsoft.com/office/powerpoint/2010/main" val="5054469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dirty="0"/>
          </a:p>
        </p:txBody>
      </p:sp>
      <p:pic>
        <p:nvPicPr>
          <p:cNvPr id="4"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570298" y="749071"/>
            <a:ext cx="7125702" cy="497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3"/>
          <p:cNvPicPr>
            <a:picLocks noChangeAspect="1" noChangeArrowheads="1"/>
          </p:cNvPicPr>
          <p:nvPr/>
        </p:nvPicPr>
        <p:blipFill>
          <a:blip r:embed="rId4">
            <a:extLst>
              <a:ext uri="{BEBA8EAE-BF5A-486C-A8C5-ECC9F3942E4B}">
                <a14:imgProps xmlns:a14="http://schemas.microsoft.com/office/drawing/2010/main">
                  <a14:imgLayer r:embed="rId5">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7821470" y="712612"/>
            <a:ext cx="3800232" cy="50439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632946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Lexical Analysis</a:t>
            </a:r>
          </a:p>
        </p:txBody>
      </p:sp>
      <p:sp>
        <p:nvSpPr>
          <p:cNvPr id="3" name="Content Placeholder 2"/>
          <p:cNvSpPr>
            <a:spLocks noGrp="1"/>
          </p:cNvSpPr>
          <p:nvPr>
            <p:ph idx="1"/>
          </p:nvPr>
        </p:nvSpPr>
        <p:spPr/>
        <p:txBody>
          <a:bodyPr>
            <a:normAutofit/>
          </a:bodyPr>
          <a:lstStyle/>
          <a:p>
            <a:r>
              <a:rPr lang="en-US" sz="3200" dirty="0"/>
              <a:t>The first phase of a compiler is called lexical analysis or scanning.</a:t>
            </a:r>
          </a:p>
          <a:p>
            <a:r>
              <a:rPr lang="en-US" sz="3200" dirty="0"/>
              <a:t>It reads the stream of characters making up the source program and groups the characters into meaningful sequences called </a:t>
            </a:r>
            <a:r>
              <a:rPr lang="en-US" sz="3200" b="1" dirty="0"/>
              <a:t>lexemes</a:t>
            </a:r>
            <a:r>
              <a:rPr lang="en-US" sz="3200" dirty="0"/>
              <a:t>. </a:t>
            </a:r>
          </a:p>
          <a:p>
            <a:r>
              <a:rPr lang="en-US" sz="3200" dirty="0"/>
              <a:t>For each lexeme, the lexical analyzer produces as output a </a:t>
            </a:r>
            <a:r>
              <a:rPr lang="en-US" sz="3200" b="1" dirty="0"/>
              <a:t>token</a:t>
            </a:r>
            <a:r>
              <a:rPr lang="en-US" sz="3200" dirty="0"/>
              <a:t> of the form that it passes on to the subsequent phase, syntax analysis. (token-name; attribute-value)</a:t>
            </a:r>
          </a:p>
          <a:p>
            <a:endParaRPr lang="en-US" sz="3200" dirty="0"/>
          </a:p>
          <a:p>
            <a:endParaRPr lang="en-US" sz="3200" dirty="0"/>
          </a:p>
        </p:txBody>
      </p:sp>
    </p:spTree>
    <p:extLst>
      <p:ext uri="{BB962C8B-B14F-4D97-AF65-F5344CB8AC3E}">
        <p14:creationId xmlns:p14="http://schemas.microsoft.com/office/powerpoint/2010/main" val="35870073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(Token-name; attribute-value)</a:t>
            </a:r>
          </a:p>
        </p:txBody>
      </p:sp>
      <p:sp>
        <p:nvSpPr>
          <p:cNvPr id="3" name="Content Placeholder 2"/>
          <p:cNvSpPr>
            <a:spLocks noGrp="1"/>
          </p:cNvSpPr>
          <p:nvPr>
            <p:ph idx="1"/>
          </p:nvPr>
        </p:nvSpPr>
        <p:spPr/>
        <p:txBody>
          <a:bodyPr>
            <a:normAutofit/>
          </a:bodyPr>
          <a:lstStyle/>
          <a:p>
            <a:r>
              <a:rPr lang="en-US" sz="3733" dirty="0"/>
              <a:t>In the token, the first component token-name is an abstract symbol that is used during syntax analysis, and the second component attribute-value points to an entry in the symbol table for this token.</a:t>
            </a:r>
          </a:p>
          <a:p>
            <a:r>
              <a:rPr lang="en-US" sz="3733" dirty="0"/>
              <a:t>Information from the symbol-table entry is needed for semantic analysis and code generation.</a:t>
            </a:r>
          </a:p>
        </p:txBody>
      </p:sp>
    </p:spTree>
    <p:extLst>
      <p:ext uri="{BB962C8B-B14F-4D97-AF65-F5344CB8AC3E}">
        <p14:creationId xmlns:p14="http://schemas.microsoft.com/office/powerpoint/2010/main" val="34154130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Lexical Units</a:t>
            </a:r>
          </a:p>
        </p:txBody>
      </p:sp>
      <p:sp>
        <p:nvSpPr>
          <p:cNvPr id="3" name="Content Placeholder 2"/>
          <p:cNvSpPr>
            <a:spLocks noGrp="1"/>
          </p:cNvSpPr>
          <p:nvPr>
            <p:ph idx="1"/>
          </p:nvPr>
        </p:nvSpPr>
        <p:spPr/>
        <p:txBody>
          <a:bodyPr>
            <a:noAutofit/>
          </a:bodyPr>
          <a:lstStyle/>
          <a:p>
            <a:r>
              <a:rPr lang="en-US" sz="3733" dirty="0"/>
              <a:t>Lexical  Analysis  Identifies Different Lexical Units in a </a:t>
            </a:r>
            <a:r>
              <a:rPr lang="en-US" sz="3733" b="1" dirty="0"/>
              <a:t>Source Code</a:t>
            </a:r>
            <a:r>
              <a:rPr lang="en-US" sz="3733" dirty="0"/>
              <a:t>.</a:t>
            </a:r>
          </a:p>
          <a:p>
            <a:pPr marL="0" indent="0">
              <a:buNone/>
            </a:pPr>
            <a:r>
              <a:rPr lang="en-US" sz="3733" dirty="0"/>
              <a:t>Some Lexical Classes are:</a:t>
            </a:r>
          </a:p>
          <a:p>
            <a:r>
              <a:rPr lang="en-US" sz="3733" dirty="0"/>
              <a:t>Identifiers</a:t>
            </a:r>
          </a:p>
          <a:p>
            <a:r>
              <a:rPr lang="en-US" sz="3733" dirty="0"/>
              <a:t>Constants</a:t>
            </a:r>
          </a:p>
          <a:p>
            <a:r>
              <a:rPr lang="en-US" sz="3733" dirty="0"/>
              <a:t>Keywords</a:t>
            </a:r>
          </a:p>
          <a:p>
            <a:r>
              <a:rPr lang="en-US" sz="3733" dirty="0" smtClean="0"/>
              <a:t>Operators</a:t>
            </a:r>
          </a:p>
          <a:p>
            <a:r>
              <a:rPr lang="en-US" sz="3733" dirty="0" smtClean="0"/>
              <a:t>Punctuators</a:t>
            </a:r>
            <a:endParaRPr lang="en-US" sz="3733" dirty="0"/>
          </a:p>
          <a:p>
            <a:endParaRPr lang="en-US" sz="3733"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70494" y="2518625"/>
            <a:ext cx="6221506" cy="365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194827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idx="1"/>
          </p:nvPr>
        </p:nvSpPr>
        <p:spPr/>
        <p:txBody>
          <a:bodyPr>
            <a:normAutofit fontScale="77500" lnSpcReduction="20000"/>
          </a:bodyPr>
          <a:lstStyle/>
          <a:p>
            <a:pPr marL="0" indent="0">
              <a:buNone/>
            </a:pPr>
            <a:r>
              <a:rPr lang="en-US" sz="3200" dirty="0"/>
              <a:t>Suppose a source program contains the assignment statement.</a:t>
            </a:r>
          </a:p>
          <a:p>
            <a:pPr marL="0" indent="0">
              <a:buNone/>
            </a:pPr>
            <a:r>
              <a:rPr lang="en-US" sz="3200" b="1" dirty="0"/>
              <a:t>position = initial + rate * 60</a:t>
            </a:r>
          </a:p>
          <a:p>
            <a:pPr marL="0" indent="0">
              <a:buNone/>
            </a:pPr>
            <a:r>
              <a:rPr lang="en-US" sz="3200" dirty="0"/>
              <a:t>The characters in this assignment could b e grouped into the following lexemes.</a:t>
            </a:r>
          </a:p>
          <a:p>
            <a:pPr marL="0" indent="0">
              <a:buNone/>
            </a:pPr>
            <a:endParaRPr lang="en-US" sz="3200" dirty="0"/>
          </a:p>
          <a:p>
            <a:pPr marL="0" indent="0">
              <a:buNone/>
            </a:pPr>
            <a:r>
              <a:rPr lang="en-US" sz="3200" dirty="0"/>
              <a:t>Position   </a:t>
            </a:r>
            <a:r>
              <a:rPr lang="en-US" sz="3200" dirty="0">
                <a:sym typeface="Wingdings" pitchFamily="2" charset="2"/>
              </a:rPr>
              <a:t> Identifier</a:t>
            </a:r>
            <a:endParaRPr lang="en-US" sz="3200" dirty="0"/>
          </a:p>
          <a:p>
            <a:pPr marL="0" indent="0">
              <a:buNone/>
            </a:pPr>
            <a:r>
              <a:rPr lang="en-US" sz="3200" dirty="0"/>
              <a:t>=	</a:t>
            </a:r>
            <a:r>
              <a:rPr lang="en-US" sz="3200" dirty="0">
                <a:sym typeface="Wingdings" pitchFamily="2" charset="2"/>
              </a:rPr>
              <a:t> Operator</a:t>
            </a:r>
            <a:endParaRPr lang="en-US" sz="3200" dirty="0"/>
          </a:p>
          <a:p>
            <a:pPr marL="0" indent="0">
              <a:buNone/>
            </a:pPr>
            <a:r>
              <a:rPr lang="en-US" sz="3200" dirty="0"/>
              <a:t>Initial	</a:t>
            </a:r>
            <a:r>
              <a:rPr lang="en-US" sz="3200" dirty="0">
                <a:sym typeface="Wingdings" pitchFamily="2" charset="2"/>
              </a:rPr>
              <a:t> Identifier </a:t>
            </a:r>
            <a:endParaRPr lang="en-US" sz="3200" dirty="0"/>
          </a:p>
          <a:p>
            <a:pPr marL="0" indent="0">
              <a:buNone/>
            </a:pPr>
            <a:r>
              <a:rPr lang="en-US" sz="3200" dirty="0"/>
              <a:t>+	</a:t>
            </a:r>
            <a:r>
              <a:rPr lang="en-US" sz="3200" dirty="0">
                <a:sym typeface="Wingdings" pitchFamily="2" charset="2"/>
              </a:rPr>
              <a:t> Operator</a:t>
            </a:r>
            <a:endParaRPr lang="en-US" sz="3200" dirty="0"/>
          </a:p>
          <a:p>
            <a:pPr marL="0" indent="0">
              <a:buNone/>
            </a:pPr>
            <a:r>
              <a:rPr lang="en-US" sz="3200" dirty="0"/>
              <a:t>Rate	</a:t>
            </a:r>
            <a:r>
              <a:rPr lang="en-US" sz="3200" dirty="0">
                <a:sym typeface="Wingdings" pitchFamily="2" charset="2"/>
              </a:rPr>
              <a:t> Identifier </a:t>
            </a:r>
            <a:endParaRPr lang="en-US" sz="3200" dirty="0"/>
          </a:p>
          <a:p>
            <a:pPr marL="0" indent="0">
              <a:buNone/>
            </a:pPr>
            <a:r>
              <a:rPr lang="en-US" sz="3200" dirty="0"/>
              <a:t>*	</a:t>
            </a:r>
            <a:r>
              <a:rPr lang="en-US" sz="3200" dirty="0">
                <a:sym typeface="Wingdings" pitchFamily="2" charset="2"/>
              </a:rPr>
              <a:t> Operator </a:t>
            </a:r>
            <a:endParaRPr lang="en-US" sz="3200" dirty="0"/>
          </a:p>
          <a:p>
            <a:pPr marL="0" indent="0">
              <a:buNone/>
            </a:pPr>
            <a:r>
              <a:rPr lang="en-US" sz="3200" dirty="0"/>
              <a:t>60	</a:t>
            </a:r>
            <a:r>
              <a:rPr lang="en-US" sz="3200" dirty="0">
                <a:sym typeface="Wingdings" pitchFamily="2" charset="2"/>
              </a:rPr>
              <a:t> Constant </a:t>
            </a:r>
            <a:endParaRPr lang="en-US" sz="3200" dirty="0"/>
          </a:p>
        </p:txBody>
      </p:sp>
    </p:spTree>
    <p:extLst>
      <p:ext uri="{BB962C8B-B14F-4D97-AF65-F5344CB8AC3E}">
        <p14:creationId xmlns:p14="http://schemas.microsoft.com/office/powerpoint/2010/main" val="12037223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482601"/>
            <a:ext cx="10972800" cy="5643564"/>
          </a:xfrm>
        </p:spPr>
        <p:txBody>
          <a:bodyPr>
            <a:normAutofit/>
          </a:bodyPr>
          <a:lstStyle/>
          <a:p>
            <a:pPr marL="0" indent="0">
              <a:buNone/>
            </a:pPr>
            <a:r>
              <a:rPr lang="en-US" sz="3200" dirty="0"/>
              <a:t>And mapped into the following tokens passed on to the syntax analyzer.</a:t>
            </a:r>
          </a:p>
          <a:p>
            <a:pPr marL="0" indent="0">
              <a:buNone/>
            </a:pPr>
            <a:r>
              <a:rPr lang="en-US" sz="3200" b="1" dirty="0"/>
              <a:t>position</a:t>
            </a:r>
            <a:r>
              <a:rPr lang="en-US" sz="3200" dirty="0"/>
              <a:t> is a lexeme that would b e mapped into a token (id; 1), where id is an abstract symbol standing for identifier and 1 points to the symbol-table entry for position. The symbol-table entry for an identifier holds Information about the identifier, such as its name and type.</a:t>
            </a:r>
          </a:p>
          <a:p>
            <a:pPr marL="0" indent="0">
              <a:buNone/>
            </a:pPr>
            <a:r>
              <a:rPr lang="en-US" sz="3200" dirty="0"/>
              <a:t>The </a:t>
            </a:r>
            <a:r>
              <a:rPr lang="en-US" sz="3200" b="1" dirty="0"/>
              <a:t>assignment symbol =</a:t>
            </a:r>
            <a:r>
              <a:rPr lang="en-US" sz="3200" dirty="0"/>
              <a:t> is a lexeme that is mapped into the token (=) . Since this token needs no attribute-value.</a:t>
            </a:r>
          </a:p>
        </p:txBody>
      </p:sp>
    </p:spTree>
    <p:extLst>
      <p:ext uri="{BB962C8B-B14F-4D97-AF65-F5344CB8AC3E}">
        <p14:creationId xmlns:p14="http://schemas.microsoft.com/office/powerpoint/2010/main" val="18463144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482601"/>
            <a:ext cx="10972800" cy="5643564"/>
          </a:xfrm>
        </p:spPr>
        <p:txBody>
          <a:bodyPr>
            <a:normAutofit fontScale="92500" lnSpcReduction="10000"/>
          </a:bodyPr>
          <a:lstStyle/>
          <a:p>
            <a:pPr marL="0" indent="0">
              <a:buNone/>
            </a:pPr>
            <a:r>
              <a:rPr lang="en-US" sz="3467" b="1" dirty="0"/>
              <a:t>initial</a:t>
            </a:r>
            <a:r>
              <a:rPr lang="en-US" sz="3467" dirty="0"/>
              <a:t> is a lexeme that is mapped into the token (id; 2), where 2 points to the symbol-table entry for initial.</a:t>
            </a:r>
          </a:p>
          <a:p>
            <a:pPr marL="0" indent="0">
              <a:buNone/>
            </a:pPr>
            <a:r>
              <a:rPr lang="en-US" sz="3467" b="1" dirty="0"/>
              <a:t>+</a:t>
            </a:r>
            <a:r>
              <a:rPr lang="en-US" sz="3467" dirty="0"/>
              <a:t> is a lexeme that is mapped into the token (+).</a:t>
            </a:r>
          </a:p>
          <a:p>
            <a:pPr marL="0" indent="0">
              <a:buNone/>
            </a:pPr>
            <a:r>
              <a:rPr lang="en-US" sz="3467" b="1" dirty="0"/>
              <a:t>rate</a:t>
            </a:r>
            <a:r>
              <a:rPr lang="en-US" sz="3467" dirty="0"/>
              <a:t> is a lexeme that is mapped into the token (id; 3), where 3 points to the symbol-table entry for rate.</a:t>
            </a:r>
          </a:p>
          <a:p>
            <a:pPr marL="0" indent="0">
              <a:buNone/>
            </a:pPr>
            <a:r>
              <a:rPr lang="en-US" sz="3467" b="1" dirty="0"/>
              <a:t>*</a:t>
            </a:r>
            <a:r>
              <a:rPr lang="en-US" sz="3467" dirty="0"/>
              <a:t> is a lexeme that is mapped into the token (*).</a:t>
            </a:r>
          </a:p>
          <a:p>
            <a:pPr marL="0" indent="0">
              <a:buNone/>
            </a:pPr>
            <a:r>
              <a:rPr lang="en-US" sz="3467" b="1" dirty="0"/>
              <a:t>60</a:t>
            </a:r>
            <a:r>
              <a:rPr lang="en-US" sz="3467" dirty="0"/>
              <a:t> is a lexeme that is mapped into the token (60).</a:t>
            </a:r>
          </a:p>
          <a:p>
            <a:pPr marL="0" indent="0">
              <a:buNone/>
            </a:pPr>
            <a:endParaRPr lang="en-US" sz="3467" dirty="0"/>
          </a:p>
          <a:p>
            <a:pPr marL="0" indent="0">
              <a:buNone/>
            </a:pPr>
            <a:r>
              <a:rPr lang="en-US" sz="3467" dirty="0"/>
              <a:t>Blanks separating the lexemes would b e discarded by the lexical analyzer.</a:t>
            </a:r>
          </a:p>
          <a:p>
            <a:pPr marL="0" indent="0">
              <a:buNone/>
            </a:pPr>
            <a:r>
              <a:rPr lang="pt-BR" sz="3467" dirty="0"/>
              <a:t>(id, 1) (=) (id, 2) (+)(id, 3) (*) (60)</a:t>
            </a:r>
            <a:endParaRPr lang="en-US" sz="3467" dirty="0"/>
          </a:p>
          <a:p>
            <a:pPr marL="0" indent="0">
              <a:buNone/>
            </a:pPr>
            <a:endParaRPr lang="en-US" sz="3467" dirty="0"/>
          </a:p>
        </p:txBody>
      </p:sp>
    </p:spTree>
    <p:extLst>
      <p:ext uri="{BB962C8B-B14F-4D97-AF65-F5344CB8AC3E}">
        <p14:creationId xmlns:p14="http://schemas.microsoft.com/office/powerpoint/2010/main" val="12164572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3467" dirty="0"/>
              <a:t>In this representation, the token names =, + and * are abstract symbols for the assignment, addition, and multiplication operators, respectively.</a:t>
            </a:r>
          </a:p>
          <a:p>
            <a:r>
              <a:rPr lang="en-US" sz="3467" dirty="0"/>
              <a:t>Here lexeme 60 should have token (id, 60), but we are not doing this,, we will discuss this in details in upcoming lectures.</a:t>
            </a:r>
          </a:p>
          <a:p>
            <a:endParaRPr lang="en-US" sz="3467" dirty="0"/>
          </a:p>
        </p:txBody>
      </p:sp>
    </p:spTree>
    <p:extLst>
      <p:ext uri="{BB962C8B-B14F-4D97-AF65-F5344CB8AC3E}">
        <p14:creationId xmlns:p14="http://schemas.microsoft.com/office/powerpoint/2010/main" val="7095808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1C4D5-0224-46B5-B517-24CDB1B1AFD2}"/>
              </a:ext>
            </a:extLst>
          </p:cNvPr>
          <p:cNvSpPr>
            <a:spLocks noGrp="1"/>
          </p:cNvSpPr>
          <p:nvPr>
            <p:ph type="title"/>
          </p:nvPr>
        </p:nvSpPr>
        <p:spPr/>
        <p:txBody>
          <a:bodyPr>
            <a:normAutofit/>
          </a:bodyPr>
          <a:lstStyle/>
          <a:p>
            <a:r>
              <a:rPr lang="en-US" dirty="0"/>
              <a:t>Syntax Analysis</a:t>
            </a:r>
          </a:p>
        </p:txBody>
      </p:sp>
      <p:sp>
        <p:nvSpPr>
          <p:cNvPr id="3" name="Content Placeholder 2">
            <a:extLst>
              <a:ext uri="{FF2B5EF4-FFF2-40B4-BE49-F238E27FC236}">
                <a16:creationId xmlns:a16="http://schemas.microsoft.com/office/drawing/2014/main" id="{2793E3DD-9088-4EED-A4C2-B69B8790F8EA}"/>
              </a:ext>
            </a:extLst>
          </p:cNvPr>
          <p:cNvSpPr>
            <a:spLocks noGrp="1"/>
          </p:cNvSpPr>
          <p:nvPr>
            <p:ph idx="1"/>
          </p:nvPr>
        </p:nvSpPr>
        <p:spPr/>
        <p:txBody>
          <a:bodyPr>
            <a:normAutofit/>
          </a:bodyPr>
          <a:lstStyle/>
          <a:p>
            <a:r>
              <a:rPr lang="en-US" dirty="0"/>
              <a:t>The second phase of the compiler is syntax analysis or parsing. The parser uses the first components of the tokens produced by the lexical analyzer to create a tree-like intermediate representation that depicts the grammatical structure of the token stream.</a:t>
            </a:r>
          </a:p>
          <a:p>
            <a:r>
              <a:rPr lang="en-US" dirty="0"/>
              <a:t>A typical representation is a syntax tree in which each interior node represents an operation and the children of the node represent the arguments of the operation.</a:t>
            </a:r>
          </a:p>
        </p:txBody>
      </p:sp>
    </p:spTree>
    <p:extLst>
      <p:ext uri="{BB962C8B-B14F-4D97-AF65-F5344CB8AC3E}">
        <p14:creationId xmlns:p14="http://schemas.microsoft.com/office/powerpoint/2010/main" val="39277985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4A366-446B-4036-82C4-DBA0ABC52F52}"/>
              </a:ext>
            </a:extLst>
          </p:cNvPr>
          <p:cNvSpPr>
            <a:spLocks noGrp="1"/>
          </p:cNvSpPr>
          <p:nvPr>
            <p:ph type="title"/>
          </p:nvPr>
        </p:nvSpPr>
        <p:spPr/>
        <p:txBody>
          <a:bodyPr>
            <a:normAutofit/>
          </a:bodyPr>
          <a:lstStyle/>
          <a:p>
            <a:r>
              <a:rPr lang="en-US" dirty="0"/>
              <a:t>position = initial + rate * 60</a:t>
            </a:r>
          </a:p>
        </p:txBody>
      </p:sp>
      <p:sp>
        <p:nvSpPr>
          <p:cNvPr id="3" name="Content Placeholder 2">
            <a:extLst>
              <a:ext uri="{FF2B5EF4-FFF2-40B4-BE49-F238E27FC236}">
                <a16:creationId xmlns:a16="http://schemas.microsoft.com/office/drawing/2014/main" id="{C32BD2B7-DA2C-4121-AF06-A234B123A5A8}"/>
              </a:ext>
            </a:extLst>
          </p:cNvPr>
          <p:cNvSpPr>
            <a:spLocks noGrp="1"/>
          </p:cNvSpPr>
          <p:nvPr>
            <p:ph idx="1"/>
          </p:nvPr>
        </p:nvSpPr>
        <p:spPr>
          <a:xfrm>
            <a:off x="633228" y="1417639"/>
            <a:ext cx="11074400" cy="3352799"/>
          </a:xfrm>
        </p:spPr>
        <p:txBody>
          <a:bodyPr>
            <a:normAutofit fontScale="92500" lnSpcReduction="20000"/>
          </a:bodyPr>
          <a:lstStyle/>
          <a:p>
            <a:r>
              <a:rPr lang="en-US" sz="3733" dirty="0"/>
              <a:t>This tree shows the order in which the operations in the assignment are to be performed</a:t>
            </a:r>
          </a:p>
          <a:p>
            <a:r>
              <a:rPr lang="en-US" sz="3733" dirty="0"/>
              <a:t>The tree has an interior node labeled * with (id, 3) as its left child and the integer 60 as its right child.</a:t>
            </a:r>
          </a:p>
          <a:p>
            <a:r>
              <a:rPr lang="en-US" sz="3733" dirty="0"/>
              <a:t>The node (id, 3) represents the identifier rate.</a:t>
            </a:r>
          </a:p>
          <a:p>
            <a:r>
              <a:rPr lang="en-US" sz="3733" dirty="0"/>
              <a:t>The node labeled * makes it explicit that we must first multiply the value of rate by 60.</a:t>
            </a:r>
          </a:p>
        </p:txBody>
      </p:sp>
      <p:pic>
        <p:nvPicPr>
          <p:cNvPr id="4" name="Picture 3">
            <a:extLst>
              <a:ext uri="{FF2B5EF4-FFF2-40B4-BE49-F238E27FC236}">
                <a16:creationId xmlns:a16="http://schemas.microsoft.com/office/drawing/2014/main" id="{7423B3D5-41B8-431C-AF0C-2429BCAE7223}"/>
              </a:ext>
            </a:extLst>
          </p:cNvPr>
          <p:cNvPicPr>
            <a:picLocks noChangeAspect="1"/>
          </p:cNvPicPr>
          <p:nvPr/>
        </p:nvPicPr>
        <p:blipFill>
          <a:blip r:embed="rId2"/>
          <a:stretch>
            <a:fillRect/>
          </a:stretch>
        </p:blipFill>
        <p:spPr>
          <a:xfrm>
            <a:off x="6718006" y="4198386"/>
            <a:ext cx="4989623" cy="2209063"/>
          </a:xfrm>
          <a:prstGeom prst="rect">
            <a:avLst/>
          </a:prstGeom>
        </p:spPr>
      </p:pic>
    </p:spTree>
    <p:extLst>
      <p:ext uri="{BB962C8B-B14F-4D97-AF65-F5344CB8AC3E}">
        <p14:creationId xmlns:p14="http://schemas.microsoft.com/office/powerpoint/2010/main" val="22342684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4A366-446B-4036-82C4-DBA0ABC52F52}"/>
              </a:ext>
            </a:extLst>
          </p:cNvPr>
          <p:cNvSpPr>
            <a:spLocks noGrp="1"/>
          </p:cNvSpPr>
          <p:nvPr>
            <p:ph type="title"/>
          </p:nvPr>
        </p:nvSpPr>
        <p:spPr/>
        <p:txBody>
          <a:bodyPr>
            <a:normAutofit/>
          </a:bodyPr>
          <a:lstStyle/>
          <a:p>
            <a:r>
              <a:rPr lang="en-US" dirty="0"/>
              <a:t>position = initial + rate * 60</a:t>
            </a:r>
          </a:p>
        </p:txBody>
      </p:sp>
      <p:sp>
        <p:nvSpPr>
          <p:cNvPr id="3" name="Content Placeholder 2">
            <a:extLst>
              <a:ext uri="{FF2B5EF4-FFF2-40B4-BE49-F238E27FC236}">
                <a16:creationId xmlns:a16="http://schemas.microsoft.com/office/drawing/2014/main" id="{C32BD2B7-DA2C-4121-AF06-A234B123A5A8}"/>
              </a:ext>
            </a:extLst>
          </p:cNvPr>
          <p:cNvSpPr>
            <a:spLocks noGrp="1"/>
          </p:cNvSpPr>
          <p:nvPr>
            <p:ph idx="1"/>
          </p:nvPr>
        </p:nvSpPr>
        <p:spPr>
          <a:xfrm>
            <a:off x="628503" y="1559720"/>
            <a:ext cx="11074400" cy="3738561"/>
          </a:xfrm>
        </p:spPr>
        <p:txBody>
          <a:bodyPr>
            <a:normAutofit fontScale="85000" lnSpcReduction="20000"/>
          </a:bodyPr>
          <a:lstStyle/>
          <a:p>
            <a:r>
              <a:rPr lang="en-US" sz="3733" dirty="0"/>
              <a:t>The node labeled </a:t>
            </a:r>
            <a:r>
              <a:rPr lang="en-US" sz="3733" b="1" dirty="0"/>
              <a:t>+</a:t>
            </a:r>
            <a:r>
              <a:rPr lang="en-US" sz="3733" dirty="0"/>
              <a:t> indicates that we must add the result of this multiplication to the value of initial.</a:t>
            </a:r>
          </a:p>
          <a:p>
            <a:r>
              <a:rPr lang="en-US" sz="3733" dirty="0"/>
              <a:t>The root of the tree, labeled =, indicates that we must store the result of this addition into the location for the identifier position.</a:t>
            </a:r>
          </a:p>
          <a:p>
            <a:r>
              <a:rPr lang="en-US" sz="3733" dirty="0"/>
              <a:t>This ordering of operations is consistent with the usual conventions of arithmetic which tell us that multiplication has higher precedence than addition, and hence that the multiplication is to be performed before the addition.</a:t>
            </a:r>
          </a:p>
        </p:txBody>
      </p:sp>
      <p:pic>
        <p:nvPicPr>
          <p:cNvPr id="4" name="Picture 3">
            <a:extLst>
              <a:ext uri="{FF2B5EF4-FFF2-40B4-BE49-F238E27FC236}">
                <a16:creationId xmlns:a16="http://schemas.microsoft.com/office/drawing/2014/main" id="{7423B3D5-41B8-431C-AF0C-2429BCAE7223}"/>
              </a:ext>
            </a:extLst>
          </p:cNvPr>
          <p:cNvPicPr>
            <a:picLocks noChangeAspect="1"/>
          </p:cNvPicPr>
          <p:nvPr/>
        </p:nvPicPr>
        <p:blipFill>
          <a:blip r:embed="rId3"/>
          <a:stretch>
            <a:fillRect/>
          </a:stretch>
        </p:blipFill>
        <p:spPr>
          <a:xfrm>
            <a:off x="7272989" y="4453454"/>
            <a:ext cx="4458267" cy="1973815"/>
          </a:xfrm>
          <a:prstGeom prst="rect">
            <a:avLst/>
          </a:prstGeom>
        </p:spPr>
      </p:pic>
    </p:spTree>
    <p:extLst>
      <p:ext uri="{BB962C8B-B14F-4D97-AF65-F5344CB8AC3E}">
        <p14:creationId xmlns:p14="http://schemas.microsoft.com/office/powerpoint/2010/main" val="25085700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99058-A7D2-4EA8-917C-584F952DA065}"/>
              </a:ext>
            </a:extLst>
          </p:cNvPr>
          <p:cNvSpPr>
            <a:spLocks noGrp="1"/>
          </p:cNvSpPr>
          <p:nvPr>
            <p:ph type="title"/>
          </p:nvPr>
        </p:nvSpPr>
        <p:spPr/>
        <p:txBody>
          <a:bodyPr/>
          <a:lstStyle/>
          <a:p>
            <a:r>
              <a:rPr lang="en-US" dirty="0"/>
              <a:t>Semantic Analysis</a:t>
            </a:r>
          </a:p>
        </p:txBody>
      </p:sp>
      <p:sp>
        <p:nvSpPr>
          <p:cNvPr id="3" name="Content Placeholder 2">
            <a:extLst>
              <a:ext uri="{FF2B5EF4-FFF2-40B4-BE49-F238E27FC236}">
                <a16:creationId xmlns:a16="http://schemas.microsoft.com/office/drawing/2014/main" id="{2AE5512B-8ADE-43C8-9A2D-2F5EFA0707D3}"/>
              </a:ext>
            </a:extLst>
          </p:cNvPr>
          <p:cNvSpPr>
            <a:spLocks noGrp="1"/>
          </p:cNvSpPr>
          <p:nvPr>
            <p:ph idx="1"/>
          </p:nvPr>
        </p:nvSpPr>
        <p:spPr/>
        <p:txBody>
          <a:bodyPr>
            <a:normAutofit lnSpcReduction="10000"/>
          </a:bodyPr>
          <a:lstStyle/>
          <a:p>
            <a:r>
              <a:rPr lang="en-US" dirty="0"/>
              <a:t>The semantic analyzer uses the syntax tree and the information in the symbol table to check the source program for semantic consistency with the language definition.</a:t>
            </a:r>
          </a:p>
          <a:p>
            <a:r>
              <a:rPr lang="en-US" dirty="0"/>
              <a:t>It also gathers type information and saves it in either the syntax tree or the symbol table, for subsequent use during intermediate-code generation.</a:t>
            </a:r>
          </a:p>
          <a:p>
            <a:r>
              <a:rPr lang="en-US" dirty="0"/>
              <a:t>An important part of semantic analysis is type checking, where the compiler checks that each operator has matching operands.</a:t>
            </a:r>
          </a:p>
          <a:p>
            <a:r>
              <a:rPr lang="en-US" dirty="0"/>
              <a:t>For example, many programming language definitions require an array index to be an integer, the compiler must report an error if a floating-point number is used to index an array</a:t>
            </a:r>
          </a:p>
        </p:txBody>
      </p:sp>
    </p:spTree>
    <p:extLst>
      <p:ext uri="{BB962C8B-B14F-4D97-AF65-F5344CB8AC3E}">
        <p14:creationId xmlns:p14="http://schemas.microsoft.com/office/powerpoint/2010/main" val="20505364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1D390A-BD02-4154-8AE4-28830D5A66B9}"/>
              </a:ext>
            </a:extLst>
          </p:cNvPr>
          <p:cNvSpPr>
            <a:spLocks noGrp="1"/>
          </p:cNvSpPr>
          <p:nvPr>
            <p:ph idx="1"/>
          </p:nvPr>
        </p:nvSpPr>
        <p:spPr>
          <a:xfrm>
            <a:off x="508000" y="482600"/>
            <a:ext cx="11516241" cy="4525963"/>
          </a:xfrm>
        </p:spPr>
        <p:txBody>
          <a:bodyPr>
            <a:normAutofit/>
          </a:bodyPr>
          <a:lstStyle/>
          <a:p>
            <a:r>
              <a:rPr lang="en-US" dirty="0"/>
              <a:t>The language specification may permit some type conversions called coercions. For example, a binary arithmetic operator may be applied to either a pair of integers or to a pair of floating-point numbers. If the operator is applied to a floating-point number and an integer, the compiler may convert or coerce the integer into a floating-point number. </a:t>
            </a:r>
          </a:p>
          <a:p>
            <a:r>
              <a:rPr lang="en-US" dirty="0"/>
              <a:t>Such a coercion appears in Fig. 1.7. Suppose that position, initial, and rate have been declared to be floating-point numbers, and that the lexeme 60 by itself forms an integer. The type checker in the semantic analyzer in Fig. 1.7 discovers that the operator * is applied to a floating-point number rate and an integer 60. In this case, the integer may be converted into a floating-point number.</a:t>
            </a:r>
          </a:p>
        </p:txBody>
      </p:sp>
      <p:pic>
        <p:nvPicPr>
          <p:cNvPr id="4" name="Picture 3">
            <a:extLst>
              <a:ext uri="{FF2B5EF4-FFF2-40B4-BE49-F238E27FC236}">
                <a16:creationId xmlns:a16="http://schemas.microsoft.com/office/drawing/2014/main" id="{A5B119D0-6CFF-47E3-ADF5-180D09B59047}"/>
              </a:ext>
            </a:extLst>
          </p:cNvPr>
          <p:cNvPicPr>
            <a:picLocks noChangeAspect="1"/>
          </p:cNvPicPr>
          <p:nvPr/>
        </p:nvPicPr>
        <p:blipFill>
          <a:blip r:embed="rId2"/>
          <a:stretch>
            <a:fillRect/>
          </a:stretch>
        </p:blipFill>
        <p:spPr>
          <a:xfrm>
            <a:off x="7823200" y="4546600"/>
            <a:ext cx="3997840" cy="2093605"/>
          </a:xfrm>
          <a:prstGeom prst="rect">
            <a:avLst/>
          </a:prstGeom>
        </p:spPr>
      </p:pic>
    </p:spTree>
    <p:extLst>
      <p:ext uri="{BB962C8B-B14F-4D97-AF65-F5344CB8AC3E}">
        <p14:creationId xmlns:p14="http://schemas.microsoft.com/office/powerpoint/2010/main" val="10948978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E5180-FD48-4204-9D84-57A63788F060}"/>
              </a:ext>
            </a:extLst>
          </p:cNvPr>
          <p:cNvSpPr>
            <a:spLocks noGrp="1"/>
          </p:cNvSpPr>
          <p:nvPr>
            <p:ph type="title"/>
          </p:nvPr>
        </p:nvSpPr>
        <p:spPr/>
        <p:txBody>
          <a:bodyPr/>
          <a:lstStyle/>
          <a:p>
            <a:r>
              <a:rPr lang="en-US" dirty="0"/>
              <a:t>Intermediate Code Generator</a:t>
            </a:r>
          </a:p>
        </p:txBody>
      </p:sp>
      <p:sp>
        <p:nvSpPr>
          <p:cNvPr id="3" name="Content Placeholder 2">
            <a:extLst>
              <a:ext uri="{FF2B5EF4-FFF2-40B4-BE49-F238E27FC236}">
                <a16:creationId xmlns:a16="http://schemas.microsoft.com/office/drawing/2014/main" id="{B35C5D13-D25E-434C-971F-872D14CBE7A3}"/>
              </a:ext>
            </a:extLst>
          </p:cNvPr>
          <p:cNvSpPr>
            <a:spLocks noGrp="1"/>
          </p:cNvSpPr>
          <p:nvPr>
            <p:ph idx="1"/>
          </p:nvPr>
        </p:nvSpPr>
        <p:spPr>
          <a:xfrm>
            <a:off x="609600" y="1600202"/>
            <a:ext cx="10972800" cy="3657599"/>
          </a:xfrm>
        </p:spPr>
        <p:txBody>
          <a:bodyPr>
            <a:normAutofit/>
          </a:bodyPr>
          <a:lstStyle/>
          <a:p>
            <a:r>
              <a:rPr lang="en-US" sz="2667" dirty="0"/>
              <a:t>After syntax and semantic analysis of the source program, many compilers generate an explicit low-level or machine-like intermediate representation. which we can think of as a program for an abstract machine.</a:t>
            </a:r>
          </a:p>
          <a:p>
            <a:r>
              <a:rPr lang="en-US" sz="2667" dirty="0"/>
              <a:t>This intermediate representation should have two important properties: it should be easy to produce and it should be easy to translate into the target machine. </a:t>
            </a:r>
          </a:p>
          <a:p>
            <a:r>
              <a:rPr lang="en-US" sz="2667" dirty="0"/>
              <a:t>The output of the intermediate code generator consists of the three-address code sequence</a:t>
            </a:r>
          </a:p>
          <a:p>
            <a:endParaRPr lang="en-US" sz="2667" dirty="0"/>
          </a:p>
          <a:p>
            <a:endParaRPr lang="en-US" sz="2667" dirty="0"/>
          </a:p>
        </p:txBody>
      </p:sp>
      <p:pic>
        <p:nvPicPr>
          <p:cNvPr id="4" name="Picture 3">
            <a:extLst>
              <a:ext uri="{FF2B5EF4-FFF2-40B4-BE49-F238E27FC236}">
                <a16:creationId xmlns:a16="http://schemas.microsoft.com/office/drawing/2014/main" id="{AFBD43CE-325F-4C9B-953A-63F90359B22F}"/>
              </a:ext>
            </a:extLst>
          </p:cNvPr>
          <p:cNvPicPr>
            <a:picLocks noChangeAspect="1"/>
          </p:cNvPicPr>
          <p:nvPr/>
        </p:nvPicPr>
        <p:blipFill>
          <a:blip r:embed="rId2"/>
          <a:stretch>
            <a:fillRect/>
          </a:stretch>
        </p:blipFill>
        <p:spPr>
          <a:xfrm>
            <a:off x="7721600" y="4722096"/>
            <a:ext cx="3327400" cy="1721568"/>
          </a:xfrm>
          <a:prstGeom prst="rect">
            <a:avLst/>
          </a:prstGeom>
        </p:spPr>
      </p:pic>
    </p:spTree>
    <p:extLst>
      <p:ext uri="{BB962C8B-B14F-4D97-AF65-F5344CB8AC3E}">
        <p14:creationId xmlns:p14="http://schemas.microsoft.com/office/powerpoint/2010/main" val="25283282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Machine Code Generation</a:t>
            </a:r>
            <a:endParaRPr lang="en-GB" dirty="0"/>
          </a:p>
        </p:txBody>
      </p:sp>
      <p:sp>
        <p:nvSpPr>
          <p:cNvPr id="3" name="Content Placeholder 2"/>
          <p:cNvSpPr>
            <a:spLocks noGrp="1"/>
          </p:cNvSpPr>
          <p:nvPr>
            <p:ph idx="1"/>
          </p:nvPr>
        </p:nvSpPr>
        <p:spPr/>
        <p:txBody>
          <a:bodyPr>
            <a:normAutofit lnSpcReduction="10000"/>
          </a:bodyPr>
          <a:lstStyle/>
          <a:p>
            <a:r>
              <a:rPr lang="en-GB" dirty="0"/>
              <a:t>The code generator takes as input an intermediate representation of the </a:t>
            </a:r>
            <a:r>
              <a:rPr lang="en-GB" dirty="0" smtClean="0"/>
              <a:t>source program </a:t>
            </a:r>
            <a:r>
              <a:rPr lang="en-GB" dirty="0"/>
              <a:t>and maps it into the target language. </a:t>
            </a:r>
            <a:endParaRPr lang="en-GB" dirty="0" smtClean="0"/>
          </a:p>
          <a:p>
            <a:r>
              <a:rPr lang="en-GB" dirty="0" smtClean="0"/>
              <a:t>If </a:t>
            </a:r>
            <a:r>
              <a:rPr lang="en-GB" dirty="0"/>
              <a:t>the target language is </a:t>
            </a:r>
            <a:r>
              <a:rPr lang="en-GB" dirty="0" smtClean="0"/>
              <a:t>machine code</a:t>
            </a:r>
            <a:r>
              <a:rPr lang="en-GB" dirty="0"/>
              <a:t>, registers or memory locations are selected for each of the variables used </a:t>
            </a:r>
            <a:r>
              <a:rPr lang="en-GB" dirty="0" smtClean="0"/>
              <a:t>by the </a:t>
            </a:r>
            <a:r>
              <a:rPr lang="en-GB" dirty="0"/>
              <a:t>program. </a:t>
            </a:r>
            <a:endParaRPr lang="en-GB" dirty="0" smtClean="0"/>
          </a:p>
          <a:p>
            <a:r>
              <a:rPr lang="en-GB" dirty="0" smtClean="0"/>
              <a:t>Then</a:t>
            </a:r>
            <a:r>
              <a:rPr lang="en-GB" dirty="0"/>
              <a:t>, the intermediate instructions are translated into </a:t>
            </a:r>
            <a:r>
              <a:rPr lang="en-GB" dirty="0" smtClean="0"/>
              <a:t>sequences of </a:t>
            </a:r>
            <a:r>
              <a:rPr lang="en-GB" dirty="0"/>
              <a:t>machine instructions that perform the same task. </a:t>
            </a:r>
            <a:endParaRPr lang="en-GB" dirty="0" smtClean="0"/>
          </a:p>
          <a:p>
            <a:r>
              <a:rPr lang="en-GB" dirty="0" smtClean="0"/>
              <a:t>A </a:t>
            </a:r>
            <a:r>
              <a:rPr lang="en-GB" dirty="0"/>
              <a:t>crucial aspect of </a:t>
            </a:r>
            <a:r>
              <a:rPr lang="en-GB" dirty="0" smtClean="0"/>
              <a:t>code generation </a:t>
            </a:r>
            <a:r>
              <a:rPr lang="en-GB" dirty="0"/>
              <a:t>is the judicious assignment of registers to hold variables.</a:t>
            </a:r>
          </a:p>
          <a:p>
            <a:r>
              <a:rPr lang="en-GB" dirty="0"/>
              <a:t>For example, using registers </a:t>
            </a:r>
            <a:r>
              <a:rPr lang="en-GB" b="1" dirty="0"/>
              <a:t>R1 </a:t>
            </a:r>
            <a:r>
              <a:rPr lang="en-GB" dirty="0"/>
              <a:t>and </a:t>
            </a:r>
            <a:r>
              <a:rPr lang="en-GB" b="1" dirty="0"/>
              <a:t>R2, </a:t>
            </a:r>
            <a:r>
              <a:rPr lang="en-GB" dirty="0"/>
              <a:t>the intermediate code in (1.4) </a:t>
            </a:r>
            <a:r>
              <a:rPr lang="en-GB" dirty="0" smtClean="0"/>
              <a:t>might get </a:t>
            </a:r>
            <a:r>
              <a:rPr lang="en-GB" dirty="0"/>
              <a:t>translated into the machine code</a:t>
            </a:r>
          </a:p>
        </p:txBody>
      </p:sp>
      <p:pic>
        <p:nvPicPr>
          <p:cNvPr id="4" name="Picture 3"/>
          <p:cNvPicPr>
            <a:picLocks noChangeAspect="1"/>
          </p:cNvPicPr>
          <p:nvPr/>
        </p:nvPicPr>
        <p:blipFill>
          <a:blip r:embed="rId2"/>
          <a:stretch>
            <a:fillRect/>
          </a:stretch>
        </p:blipFill>
        <p:spPr>
          <a:xfrm>
            <a:off x="8035962" y="230956"/>
            <a:ext cx="2804048" cy="1594669"/>
          </a:xfrm>
          <a:prstGeom prst="rect">
            <a:avLst/>
          </a:prstGeom>
        </p:spPr>
      </p:pic>
    </p:spTree>
    <p:extLst>
      <p:ext uri="{BB962C8B-B14F-4D97-AF65-F5344CB8AC3E}">
        <p14:creationId xmlns:p14="http://schemas.microsoft.com/office/powerpoint/2010/main" val="25817618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Grouping of Phases</a:t>
            </a:r>
            <a:endParaRPr lang="en-GB" dirty="0"/>
          </a:p>
        </p:txBody>
      </p:sp>
      <p:sp>
        <p:nvSpPr>
          <p:cNvPr id="3" name="Content Placeholder 2"/>
          <p:cNvSpPr>
            <a:spLocks noGrp="1"/>
          </p:cNvSpPr>
          <p:nvPr>
            <p:ph idx="1"/>
          </p:nvPr>
        </p:nvSpPr>
        <p:spPr/>
        <p:txBody>
          <a:bodyPr/>
          <a:lstStyle/>
          <a:p>
            <a:r>
              <a:rPr lang="en-GB" dirty="0"/>
              <a:t>In </a:t>
            </a:r>
            <a:r>
              <a:rPr lang="en-GB" dirty="0" smtClean="0"/>
              <a:t>implementation</a:t>
            </a:r>
            <a:r>
              <a:rPr lang="en-GB" dirty="0"/>
              <a:t>, several phases are grouped into passes.</a:t>
            </a:r>
          </a:p>
          <a:p>
            <a:r>
              <a:rPr lang="en-GB" b="1" dirty="0" smtClean="0"/>
              <a:t>Front‐end (Analysis) </a:t>
            </a:r>
            <a:r>
              <a:rPr lang="en-GB" dirty="0"/>
              <a:t>phases are grouped into one </a:t>
            </a:r>
            <a:r>
              <a:rPr lang="en-GB" dirty="0" smtClean="0"/>
              <a:t>pass. Lexical </a:t>
            </a:r>
            <a:r>
              <a:rPr lang="en-GB" dirty="0"/>
              <a:t>analysis, Syntax analysis, Semantic analysis, Intermediate code </a:t>
            </a:r>
            <a:r>
              <a:rPr lang="en-GB" dirty="0" smtClean="0"/>
              <a:t>generation</a:t>
            </a:r>
          </a:p>
          <a:p>
            <a:endParaRPr lang="en-GB" dirty="0" smtClean="0"/>
          </a:p>
          <a:p>
            <a:r>
              <a:rPr lang="en-GB" dirty="0" smtClean="0"/>
              <a:t>Optimization </a:t>
            </a:r>
            <a:r>
              <a:rPr lang="en-GB" dirty="0"/>
              <a:t>is left as an optional </a:t>
            </a:r>
            <a:r>
              <a:rPr lang="en-GB" dirty="0" smtClean="0"/>
              <a:t>pass</a:t>
            </a:r>
          </a:p>
          <a:p>
            <a:endParaRPr lang="en-GB" dirty="0" smtClean="0"/>
          </a:p>
          <a:p>
            <a:r>
              <a:rPr lang="en-GB" b="1" dirty="0" smtClean="0"/>
              <a:t>Back-End Pass (Synthesis) </a:t>
            </a:r>
            <a:r>
              <a:rPr lang="en-GB" dirty="0" smtClean="0"/>
              <a:t>phases, This includes Code Generation</a:t>
            </a:r>
            <a:endParaRPr lang="en-GB" dirty="0"/>
          </a:p>
          <a:p>
            <a:endParaRPr lang="en-GB" dirty="0"/>
          </a:p>
          <a:p>
            <a:endParaRPr lang="en-GB" dirty="0"/>
          </a:p>
        </p:txBody>
      </p:sp>
    </p:spTree>
    <p:extLst>
      <p:ext uri="{BB962C8B-B14F-4D97-AF65-F5344CB8AC3E}">
        <p14:creationId xmlns:p14="http://schemas.microsoft.com/office/powerpoint/2010/main" val="15999845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dirty="0"/>
          </a:p>
        </p:txBody>
      </p:sp>
      <p:pic>
        <p:nvPicPr>
          <p:cNvPr id="4" name="Content Placeholder 3"/>
          <p:cNvPicPr>
            <a:picLocks noGrp="1" noChangeAspect="1"/>
          </p:cNvPicPr>
          <p:nvPr>
            <p:ph idx="1"/>
          </p:nvPr>
        </p:nvPicPr>
        <p:blipFill>
          <a:blip r:embed="rId2"/>
          <a:stretch>
            <a:fillRect/>
          </a:stretch>
        </p:blipFill>
        <p:spPr>
          <a:xfrm>
            <a:off x="719137" y="365125"/>
            <a:ext cx="11099685" cy="5885068"/>
          </a:xfrm>
          <a:prstGeom prst="rect">
            <a:avLst/>
          </a:prstGeom>
        </p:spPr>
      </p:pic>
    </p:spTree>
    <p:extLst>
      <p:ext uri="{BB962C8B-B14F-4D97-AF65-F5344CB8AC3E}">
        <p14:creationId xmlns:p14="http://schemas.microsoft.com/office/powerpoint/2010/main" val="36290698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4" name="Picture 3"/>
          <p:cNvPicPr>
            <a:picLocks noChangeAspect="1"/>
          </p:cNvPicPr>
          <p:nvPr/>
        </p:nvPicPr>
        <p:blipFill>
          <a:blip r:embed="rId2"/>
          <a:stretch>
            <a:fillRect/>
          </a:stretch>
        </p:blipFill>
        <p:spPr>
          <a:xfrm>
            <a:off x="838200" y="365125"/>
            <a:ext cx="10515600" cy="5570920"/>
          </a:xfrm>
          <a:prstGeom prst="rect">
            <a:avLst/>
          </a:prstGeom>
        </p:spPr>
      </p:pic>
    </p:spTree>
    <p:extLst>
      <p:ext uri="{BB962C8B-B14F-4D97-AF65-F5344CB8AC3E}">
        <p14:creationId xmlns:p14="http://schemas.microsoft.com/office/powerpoint/2010/main" val="33121435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4" name="Picture 3"/>
          <p:cNvPicPr>
            <a:picLocks noChangeAspect="1"/>
          </p:cNvPicPr>
          <p:nvPr/>
        </p:nvPicPr>
        <p:blipFill>
          <a:blip r:embed="rId2"/>
          <a:stretch>
            <a:fillRect/>
          </a:stretch>
        </p:blipFill>
        <p:spPr>
          <a:xfrm>
            <a:off x="838200" y="365125"/>
            <a:ext cx="10059296" cy="5753661"/>
          </a:xfrm>
          <a:prstGeom prst="rect">
            <a:avLst/>
          </a:prstGeom>
        </p:spPr>
      </p:pic>
    </p:spTree>
    <p:extLst>
      <p:ext uri="{BB962C8B-B14F-4D97-AF65-F5344CB8AC3E}">
        <p14:creationId xmlns:p14="http://schemas.microsoft.com/office/powerpoint/2010/main" val="10572772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4" name="Picture 3"/>
          <p:cNvPicPr>
            <a:picLocks noChangeAspect="1"/>
          </p:cNvPicPr>
          <p:nvPr/>
        </p:nvPicPr>
        <p:blipFill>
          <a:blip r:embed="rId2"/>
          <a:stretch>
            <a:fillRect/>
          </a:stretch>
        </p:blipFill>
        <p:spPr>
          <a:xfrm>
            <a:off x="838200" y="365125"/>
            <a:ext cx="10055655" cy="5775294"/>
          </a:xfrm>
          <a:prstGeom prst="rect">
            <a:avLst/>
          </a:prstGeom>
        </p:spPr>
      </p:pic>
    </p:spTree>
    <p:extLst>
      <p:ext uri="{BB962C8B-B14F-4D97-AF65-F5344CB8AC3E}">
        <p14:creationId xmlns:p14="http://schemas.microsoft.com/office/powerpoint/2010/main" val="4282979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4" name="Picture 3"/>
          <p:cNvPicPr>
            <a:picLocks noChangeAspect="1"/>
          </p:cNvPicPr>
          <p:nvPr/>
        </p:nvPicPr>
        <p:blipFill>
          <a:blip r:embed="rId2"/>
          <a:stretch>
            <a:fillRect/>
          </a:stretch>
        </p:blipFill>
        <p:spPr>
          <a:xfrm>
            <a:off x="942807" y="365125"/>
            <a:ext cx="10410993" cy="6214104"/>
          </a:xfrm>
          <a:prstGeom prst="rect">
            <a:avLst/>
          </a:prstGeom>
        </p:spPr>
      </p:pic>
    </p:spTree>
    <p:extLst>
      <p:ext uri="{BB962C8B-B14F-4D97-AF65-F5344CB8AC3E}">
        <p14:creationId xmlns:p14="http://schemas.microsoft.com/office/powerpoint/2010/main" val="9752994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4" name="Picture 3"/>
          <p:cNvPicPr>
            <a:picLocks noChangeAspect="1"/>
          </p:cNvPicPr>
          <p:nvPr/>
        </p:nvPicPr>
        <p:blipFill>
          <a:blip r:embed="rId2"/>
          <a:stretch>
            <a:fillRect/>
          </a:stretch>
        </p:blipFill>
        <p:spPr>
          <a:xfrm>
            <a:off x="838200" y="365125"/>
            <a:ext cx="9802906" cy="5748779"/>
          </a:xfrm>
          <a:prstGeom prst="rect">
            <a:avLst/>
          </a:prstGeom>
        </p:spPr>
      </p:pic>
    </p:spTree>
    <p:extLst>
      <p:ext uri="{BB962C8B-B14F-4D97-AF65-F5344CB8AC3E}">
        <p14:creationId xmlns:p14="http://schemas.microsoft.com/office/powerpoint/2010/main" val="787301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4" name="Picture 3"/>
          <p:cNvPicPr>
            <a:picLocks noChangeAspect="1"/>
          </p:cNvPicPr>
          <p:nvPr/>
        </p:nvPicPr>
        <p:blipFill>
          <a:blip r:embed="rId2"/>
          <a:stretch>
            <a:fillRect/>
          </a:stretch>
        </p:blipFill>
        <p:spPr>
          <a:xfrm>
            <a:off x="838200" y="365125"/>
            <a:ext cx="10324717" cy="5811838"/>
          </a:xfrm>
          <a:prstGeom prst="rect">
            <a:avLst/>
          </a:prstGeom>
        </p:spPr>
      </p:pic>
    </p:spTree>
    <p:extLst>
      <p:ext uri="{BB962C8B-B14F-4D97-AF65-F5344CB8AC3E}">
        <p14:creationId xmlns:p14="http://schemas.microsoft.com/office/powerpoint/2010/main" val="32855801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4" name="Picture 3"/>
          <p:cNvPicPr>
            <a:picLocks noChangeAspect="1"/>
          </p:cNvPicPr>
          <p:nvPr/>
        </p:nvPicPr>
        <p:blipFill>
          <a:blip r:embed="rId2"/>
          <a:stretch>
            <a:fillRect/>
          </a:stretch>
        </p:blipFill>
        <p:spPr>
          <a:xfrm>
            <a:off x="676835" y="365125"/>
            <a:ext cx="10844605" cy="6207016"/>
          </a:xfrm>
          <a:prstGeom prst="rect">
            <a:avLst/>
          </a:prstGeom>
        </p:spPr>
      </p:pic>
    </p:spTree>
    <p:extLst>
      <p:ext uri="{BB962C8B-B14F-4D97-AF65-F5344CB8AC3E}">
        <p14:creationId xmlns:p14="http://schemas.microsoft.com/office/powerpoint/2010/main" val="1244362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4" name="Picture 3"/>
          <p:cNvPicPr>
            <a:picLocks noChangeAspect="1"/>
          </p:cNvPicPr>
          <p:nvPr/>
        </p:nvPicPr>
        <p:blipFill>
          <a:blip r:embed="rId2"/>
          <a:stretch>
            <a:fillRect/>
          </a:stretch>
        </p:blipFill>
        <p:spPr>
          <a:xfrm>
            <a:off x="838199" y="365125"/>
            <a:ext cx="10396007" cy="5811838"/>
          </a:xfrm>
          <a:prstGeom prst="rect">
            <a:avLst/>
          </a:prstGeom>
        </p:spPr>
      </p:pic>
    </p:spTree>
    <p:extLst>
      <p:ext uri="{BB962C8B-B14F-4D97-AF65-F5344CB8AC3E}">
        <p14:creationId xmlns:p14="http://schemas.microsoft.com/office/powerpoint/2010/main" val="73850532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Reference:</a:t>
            </a:r>
            <a:endParaRPr lang="en-GB" dirty="0"/>
          </a:p>
        </p:txBody>
      </p:sp>
      <p:sp>
        <p:nvSpPr>
          <p:cNvPr id="3" name="Content Placeholder 2"/>
          <p:cNvSpPr>
            <a:spLocks noGrp="1"/>
          </p:cNvSpPr>
          <p:nvPr>
            <p:ph idx="1"/>
          </p:nvPr>
        </p:nvSpPr>
        <p:spPr/>
        <p:txBody>
          <a:bodyPr/>
          <a:lstStyle/>
          <a:p>
            <a:endParaRPr lang="en-GB" b="1" dirty="0" smtClean="0"/>
          </a:p>
          <a:p>
            <a:r>
              <a:rPr lang="en-GB" dirty="0"/>
              <a:t>Compilers: Principles, Techniques, and Tools 2nd </a:t>
            </a:r>
            <a:r>
              <a:rPr lang="en-GB" dirty="0" smtClean="0"/>
              <a:t>Edition</a:t>
            </a:r>
            <a:br>
              <a:rPr lang="en-GB" dirty="0" smtClean="0"/>
            </a:br>
            <a:r>
              <a:rPr lang="en-GB" dirty="0" smtClean="0"/>
              <a:t> by </a:t>
            </a:r>
            <a:r>
              <a:rPr lang="en-GB" dirty="0"/>
              <a:t>Alfred </a:t>
            </a:r>
            <a:r>
              <a:rPr lang="en-GB" dirty="0" err="1"/>
              <a:t>Aho</a:t>
            </a:r>
            <a:r>
              <a:rPr lang="en-GB" dirty="0"/>
              <a:t> </a:t>
            </a:r>
            <a:r>
              <a:rPr lang="en-GB" dirty="0" smtClean="0"/>
              <a:t>, Jeffrey Ullman, Ravi </a:t>
            </a:r>
            <a:r>
              <a:rPr lang="en-GB" dirty="0" err="1" smtClean="0"/>
              <a:t>Sethi</a:t>
            </a:r>
            <a:r>
              <a:rPr lang="en-GB" dirty="0" smtClean="0"/>
              <a:t>, Monica Lam</a:t>
            </a:r>
          </a:p>
          <a:p>
            <a:endParaRPr lang="en-GB" dirty="0" smtClean="0"/>
          </a:p>
          <a:p>
            <a:r>
              <a:rPr lang="en-GB" dirty="0" smtClean="0"/>
              <a:t>Introduction </a:t>
            </a:r>
            <a:r>
              <a:rPr lang="en-GB" dirty="0"/>
              <a:t>to Compilers and Language </a:t>
            </a:r>
            <a:r>
              <a:rPr lang="en-GB" dirty="0" smtClean="0"/>
              <a:t>Design | Second Edition | </a:t>
            </a:r>
            <a:r>
              <a:rPr lang="en-GB" dirty="0" err="1" smtClean="0"/>
              <a:t>Prof</a:t>
            </a:r>
            <a:r>
              <a:rPr lang="en-GB" dirty="0" err="1"/>
              <a:t>.</a:t>
            </a:r>
            <a:r>
              <a:rPr lang="en-GB" dirty="0"/>
              <a:t> </a:t>
            </a:r>
            <a:r>
              <a:rPr lang="en-GB" dirty="0" smtClean="0"/>
              <a:t>Douglas </a:t>
            </a:r>
            <a:r>
              <a:rPr lang="en-GB" dirty="0" err="1" smtClean="0"/>
              <a:t>Thain</a:t>
            </a:r>
            <a:r>
              <a:rPr lang="en-GB" dirty="0" smtClean="0"/>
              <a:t> - University </a:t>
            </a:r>
            <a:r>
              <a:rPr lang="en-GB" dirty="0"/>
              <a:t>of Notre Dame </a:t>
            </a:r>
            <a:br>
              <a:rPr lang="en-GB" dirty="0"/>
            </a:br>
            <a:endParaRPr lang="en-GB" dirty="0"/>
          </a:p>
        </p:txBody>
      </p:sp>
    </p:spTree>
    <p:extLst>
      <p:ext uri="{BB962C8B-B14F-4D97-AF65-F5344CB8AC3E}">
        <p14:creationId xmlns:p14="http://schemas.microsoft.com/office/powerpoint/2010/main" val="6047878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435</TotalTime>
  <Words>2013</Words>
  <Application>Microsoft Office PowerPoint</Application>
  <PresentationFormat>Widescreen</PresentationFormat>
  <Paragraphs>188</Paragraphs>
  <Slides>46</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46</vt:i4>
      </vt:variant>
    </vt:vector>
  </HeadingPairs>
  <TitlesOfParts>
    <vt:vector size="53" baseType="lpstr">
      <vt:lpstr>Arial</vt:lpstr>
      <vt:lpstr>ArialMT</vt:lpstr>
      <vt:lpstr>Calibri</vt:lpstr>
      <vt:lpstr>Calibri Light</vt:lpstr>
      <vt:lpstr>Times New Roman</vt:lpstr>
      <vt:lpstr>Wingdings</vt:lpstr>
      <vt:lpstr>Office Theme</vt:lpstr>
      <vt:lpstr>Compiler Construction</vt:lpstr>
      <vt:lpstr>Syllabus </vt:lpstr>
      <vt:lpstr>Course Learning Outcomes (CLO’s)</vt:lpstr>
      <vt:lpstr>Teaching Methodology: </vt:lpstr>
      <vt:lpstr>Recommended &amp; Reference Books </vt:lpstr>
      <vt:lpstr>Assessment Details </vt:lpstr>
      <vt:lpstr>Week 1:</vt:lpstr>
      <vt:lpstr>Language Processors</vt:lpstr>
      <vt:lpstr>PowerPoint Presentation</vt:lpstr>
      <vt:lpstr>Pre-processor</vt:lpstr>
      <vt:lpstr>COMPILER</vt:lpstr>
      <vt:lpstr>Assembler</vt:lpstr>
      <vt:lpstr>Linker/Loader</vt:lpstr>
      <vt:lpstr>PowerPoint Presentation</vt:lpstr>
      <vt:lpstr>Compilers VS Interpreters</vt:lpstr>
      <vt:lpstr>Hybrid Compilers </vt:lpstr>
      <vt:lpstr>Compiler Construction Tools</vt:lpstr>
      <vt:lpstr>Structure of Compiler</vt:lpstr>
      <vt:lpstr>PowerPoint Presentation</vt:lpstr>
      <vt:lpstr>PowerPoint Presentation</vt:lpstr>
      <vt:lpstr>PowerPoint Presentation</vt:lpstr>
      <vt:lpstr>Lexical Analysis</vt:lpstr>
      <vt:lpstr>(Token-name; attribute-value)</vt:lpstr>
      <vt:lpstr>Lexical Units</vt:lpstr>
      <vt:lpstr>Example</vt:lpstr>
      <vt:lpstr>PowerPoint Presentation</vt:lpstr>
      <vt:lpstr>PowerPoint Presentation</vt:lpstr>
      <vt:lpstr>PowerPoint Presentation</vt:lpstr>
      <vt:lpstr>Syntax Analysis</vt:lpstr>
      <vt:lpstr>position = initial + rate * 60</vt:lpstr>
      <vt:lpstr>position = initial + rate * 60</vt:lpstr>
      <vt:lpstr>Semantic Analysis</vt:lpstr>
      <vt:lpstr>PowerPoint Presentation</vt:lpstr>
      <vt:lpstr>Intermediate Code Generator</vt:lpstr>
      <vt:lpstr>Machine Code Generation</vt:lpstr>
      <vt:lpstr>Grouping of Phases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Compiler Construction</dc:title>
  <dc:creator>Zufiqar Ali</dc:creator>
  <cp:lastModifiedBy>Zufiqar Ali</cp:lastModifiedBy>
  <cp:revision>169</cp:revision>
  <dcterms:created xsi:type="dcterms:W3CDTF">2025-08-08T09:42:33Z</dcterms:created>
  <dcterms:modified xsi:type="dcterms:W3CDTF">2025-08-19T06:28:13Z</dcterms:modified>
</cp:coreProperties>
</file>